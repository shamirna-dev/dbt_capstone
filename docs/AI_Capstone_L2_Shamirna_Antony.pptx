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8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8" r:id="rId16"/>
    <p:sldId id="267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3900BE-E093-A2C5-E3C7-969F2E40EA55}" v="16" dt="2026-08-06T22:20:32.978"/>
    <p1510:client id="{F429A452-885F-DF8F-A9B2-74C2246A3D9F}" v="12" dt="2026-08-06T17:53:52.1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220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09537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HI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50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"/>
            <a:ext cx="1737360" cy="39997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4173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kern="0" spc="2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PROJECT</a:t>
            </a:r>
            <a:endParaRPr lang="en-US" sz="4400"/>
          </a:p>
        </p:txBody>
      </p:sp>
      <p:sp>
        <p:nvSpPr>
          <p:cNvPr id="4" name="Text 1"/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71D8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— Agentic SDLC</a:t>
            </a:r>
            <a:endParaRPr lang="en-US" sz="2200"/>
          </a:p>
        </p:txBody>
      </p:sp>
      <p:sp>
        <p:nvSpPr>
          <p:cNvPr id="5" name="Text 2"/>
          <p:cNvSpPr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Submission Template · Option 4</a:t>
            </a:r>
            <a:endParaRPr lang="en-US" sz="1400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Shape 3"/>
          <p:cNvSpPr/>
          <p:nvPr/>
        </p:nvSpPr>
        <p:spPr>
          <a:xfrm>
            <a:off x="457200" y="3291840"/>
            <a:ext cx="39319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71D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48640" y="3291840"/>
            <a:ext cx="3749040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200" b="1" dirty="0">
                <a:solidFill>
                  <a:srgbClr val="075056"/>
                </a:solidFill>
                <a:latin typeface="Calibri"/>
                <a:ea typeface="Calibri"/>
                <a:cs typeface="Calibri"/>
              </a:rPr>
              <a:t>Option 4 · AI Case Study</a:t>
            </a:r>
            <a:endParaRPr lang="en-US" sz="1400" dirty="0">
              <a:solidFill>
                <a:srgbClr val="025F6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Text 7"/>
          <p:cNvSpPr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100" i="1">
                <a:solidFill>
                  <a:srgbClr val="71D8C5"/>
                </a:solidFill>
                <a:latin typeface="Calibri"/>
                <a:ea typeface="Calibri"/>
                <a:cs typeface="Calibri"/>
              </a:rPr>
              <a:t>Open Choice — self-defined problem: AI-accelerated data engineering SDLC / STLC</a:t>
            </a:r>
            <a:endParaRPr lang="en-US" sz="10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3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Name: Shamirna Antony                    Date: ____________________</a:t>
            </a:r>
            <a:endParaRPr lang="en-US" sz="1300" dirty="0">
              <a:latin typeface="Calibri"/>
              <a:ea typeface="Calibri"/>
              <a:cs typeface="Calibri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1D8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Perficient Global AI First Academy</a:t>
            </a:r>
            <a:endParaRPr lang="en-US"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Use This Template</a:t>
            </a:r>
            <a:endParaRPr lang="en-US" sz="26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92608"/>
            <a:ext cx="914400" cy="27473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143000"/>
            <a:ext cx="310896" cy="310896"/>
          </a:xfrm>
          <a:prstGeom prst="ellipse">
            <a:avLst/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457200" y="114300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/>
          </a:p>
        </p:txBody>
      </p:sp>
      <p:sp>
        <p:nvSpPr>
          <p:cNvPr id="6" name="Text 3"/>
          <p:cNvSpPr/>
          <p:nvPr/>
        </p:nvSpPr>
        <p:spPr>
          <a:xfrm>
            <a:off x="91440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your option  </a:t>
            </a:r>
            <a:r>
              <a:rPr lang="en-US" sz="13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Option 1 (client work) or Option 2 (platform contribution) or Option 4 (AI Case Study). Fill every slide; delete instruction notes.</a:t>
            </a:r>
            <a:endParaRPr lang="en-US" sz="1300"/>
          </a:p>
        </p:txBody>
      </p:sp>
      <p:sp>
        <p:nvSpPr>
          <p:cNvPr id="7" name="Shape 4"/>
          <p:cNvSpPr/>
          <p:nvPr/>
        </p:nvSpPr>
        <p:spPr>
          <a:xfrm>
            <a:off x="457200" y="1709928"/>
            <a:ext cx="310896" cy="310896"/>
          </a:xfrm>
          <a:prstGeom prst="ellipse">
            <a:avLst/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57200" y="17099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/>
          </a:p>
        </p:txBody>
      </p:sp>
      <p:sp>
        <p:nvSpPr>
          <p:cNvPr id="9" name="Text 6"/>
          <p:cNvSpPr/>
          <p:nvPr/>
        </p:nvSpPr>
        <p:spPr>
          <a:xfrm>
            <a:off x="914400" y="1664208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at least 3 of 5 competencies  </a:t>
            </a:r>
            <a:r>
              <a:rPr lang="en-US" sz="13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rubric has 5 topics. Demonstrate a minimum of 3 with real evidence.</a:t>
            </a:r>
            <a:endParaRPr lang="en-US" sz="1300"/>
          </a:p>
        </p:txBody>
      </p:sp>
      <p:sp>
        <p:nvSpPr>
          <p:cNvPr id="10" name="Shape 7"/>
          <p:cNvSpPr/>
          <p:nvPr/>
        </p:nvSpPr>
        <p:spPr>
          <a:xfrm>
            <a:off x="457200" y="2276856"/>
            <a:ext cx="310896" cy="310896"/>
          </a:xfrm>
          <a:prstGeom prst="ellipse">
            <a:avLst/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57200" y="227685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/>
          </a:p>
        </p:txBody>
      </p:sp>
      <p:sp>
        <p:nvSpPr>
          <p:cNvPr id="12" name="Text 9"/>
          <p:cNvSpPr/>
          <p:nvPr/>
        </p:nvSpPr>
        <p:spPr>
          <a:xfrm>
            <a:off x="914400" y="2231136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impact &amp; reusability  </a:t>
            </a:r>
            <a:r>
              <a:rPr lang="en-US" sz="13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before/after and show whether others can reuse your work.</a:t>
            </a:r>
            <a:endParaRPr lang="en-US" sz="1300"/>
          </a:p>
        </p:txBody>
      </p:sp>
      <p:sp>
        <p:nvSpPr>
          <p:cNvPr id="13" name="Shape 10"/>
          <p:cNvSpPr/>
          <p:nvPr/>
        </p:nvSpPr>
        <p:spPr>
          <a:xfrm>
            <a:off x="457200" y="2843784"/>
            <a:ext cx="310896" cy="310896"/>
          </a:xfrm>
          <a:prstGeom prst="ellipse">
            <a:avLst/>
          </a:prstGeom>
          <a:solidFill>
            <a:srgbClr val="0248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57200" y="28437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/>
          </a:p>
        </p:txBody>
      </p:sp>
      <p:sp>
        <p:nvSpPr>
          <p:cNvPr id="15" name="Text 12"/>
          <p:cNvSpPr/>
          <p:nvPr/>
        </p:nvSpPr>
        <p:spPr>
          <a:xfrm>
            <a:off x="914400" y="2798064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Self-rate honestly  </a:t>
            </a:r>
            <a:r>
              <a:rPr lang="en-US" sz="13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each topic 0–30 on the Self-Rating slide. Attach evidence for every claim.</a:t>
            </a:r>
            <a:endParaRPr lang="en-US" sz="1300"/>
          </a:p>
        </p:txBody>
      </p:sp>
      <p:sp>
        <p:nvSpPr>
          <p:cNvPr id="16" name="Shape 13"/>
          <p:cNvSpPr/>
          <p:nvPr/>
        </p:nvSpPr>
        <p:spPr>
          <a:xfrm>
            <a:off x="457200" y="3410712"/>
            <a:ext cx="310896" cy="310896"/>
          </a:xfrm>
          <a:prstGeom prst="ellipse">
            <a:avLst/>
          </a:prstGeom>
          <a:solidFill>
            <a:srgbClr val="0248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457200" y="341071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/>
          </a:p>
        </p:txBody>
      </p:sp>
      <p:sp>
        <p:nvSpPr>
          <p:cNvPr id="18" name="Text 15"/>
          <p:cNvSpPr/>
          <p:nvPr/>
        </p:nvSpPr>
        <p:spPr>
          <a:xfrm>
            <a:off x="914400" y="3364992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to your validator  </a:t>
            </a:r>
            <a:r>
              <a:rPr lang="en-US" sz="13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named validator scores and signs off: Agree or Do not certify.</a:t>
            </a:r>
            <a:endParaRPr lang="en-US" sz="1300"/>
          </a:p>
        </p:txBody>
      </p:sp>
      <p:sp>
        <p:nvSpPr>
          <p:cNvPr id="19" name="Shape 16"/>
          <p:cNvSpPr/>
          <p:nvPr/>
        </p:nvSpPr>
        <p:spPr>
          <a:xfrm>
            <a:off x="457200" y="416052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640080" y="416052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to clear:  70 / 150 minimum</a:t>
            </a:r>
            <a:r>
              <a:rPr lang="en-US" sz="1200">
                <a:solidFill>
                  <a:srgbClr val="71D8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•  5 topics × 30 max each  •  minimum 3 topics demonstrated</a:t>
            </a:r>
            <a:endParaRPr lang="en-US" sz="1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Project Overview</a:t>
            </a:r>
            <a:endParaRPr lang="en-US" sz="26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92608"/>
            <a:ext cx="914400" cy="27473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097280"/>
            <a:ext cx="3977640" cy="457200"/>
          </a:xfrm>
          <a:prstGeom prst="roundRect">
            <a:avLst>
              <a:gd name="adj" fmla="val 10000"/>
            </a:avLst>
          </a:prstGeom>
          <a:solidFill>
            <a:srgbClr val="0248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48640" y="1097280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4 — AI Case Study</a:t>
            </a:r>
            <a:endParaRPr lang="en-US" sz="1300"/>
          </a:p>
        </p:txBody>
      </p:sp>
      <p:sp>
        <p:nvSpPr>
          <p:cNvPr id="6" name="Text 3"/>
          <p:cNvSpPr/>
          <p:nvPr/>
        </p:nvSpPr>
        <p:spPr>
          <a:xfrm>
            <a:off x="457200" y="16916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 &amp; domain</a:t>
            </a:r>
            <a:endParaRPr lang="en-US" sz="1200"/>
          </a:p>
        </p:txBody>
      </p:sp>
      <p:sp>
        <p:nvSpPr>
          <p:cNvPr id="7" name="Shape 4"/>
          <p:cNvSpPr/>
          <p:nvPr/>
        </p:nvSpPr>
        <p:spPr>
          <a:xfrm>
            <a:off x="457200" y="1947672"/>
            <a:ext cx="3977640" cy="457200"/>
          </a:xfrm>
          <a:prstGeom prst="roundRect">
            <a:avLst>
              <a:gd name="adj" fmla="val 10000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66928" y="1947672"/>
            <a:ext cx="3758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Choice. Multi-ERP accounts-payable consolidation on Snowflake — onboarding a 4th ERP (Infor Baan IV) into a governed medallion pipeline.</a:t>
            </a:r>
            <a:endParaRPr lang="en-US" sz="1100"/>
          </a:p>
        </p:txBody>
      </p:sp>
      <p:sp>
        <p:nvSpPr>
          <p:cNvPr id="9" name="Text 6"/>
          <p:cNvSpPr/>
          <p:nvPr/>
        </p:nvSpPr>
        <p:spPr>
          <a:xfrm>
            <a:off x="457200" y="253288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· AI solution · outcomes</a:t>
            </a:r>
            <a:endParaRPr lang="en-US" sz="1200"/>
          </a:p>
        </p:txBody>
      </p:sp>
      <p:sp>
        <p:nvSpPr>
          <p:cNvPr id="10" name="Shape 7"/>
          <p:cNvSpPr/>
          <p:nvPr/>
        </p:nvSpPr>
        <p:spPr>
          <a:xfrm>
            <a:off x="457200" y="2788920"/>
            <a:ext cx="3977640" cy="457200"/>
          </a:xfrm>
          <a:prstGeom prst="roundRect">
            <a:avLst>
              <a:gd name="adj" fmla="val 10000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66928" y="2788920"/>
            <a:ext cx="3758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rules live across 6 documents. Five RAG-grounded agents turn a prose request into cited user stories, compile-verified SQL, 28 executable tests and triaged defects — behind a human approval gate.</a:t>
            </a:r>
            <a:endParaRPr lang="en-US" sz="1100"/>
          </a:p>
        </p:txBody>
      </p:sp>
      <p:sp>
        <p:nvSpPr>
          <p:cNvPr id="12" name="Text 9"/>
          <p:cNvSpPr/>
          <p:nvPr/>
        </p:nvSpPr>
        <p:spPr>
          <a:xfrm>
            <a:off x="457200" y="337413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200"/>
          </a:p>
        </p:txBody>
      </p:sp>
      <p:sp>
        <p:nvSpPr>
          <p:cNvPr id="13" name="Shape 10"/>
          <p:cNvSpPr/>
          <p:nvPr/>
        </p:nvSpPr>
        <p:spPr>
          <a:xfrm>
            <a:off x="457200" y="3630168"/>
            <a:ext cx="3977640" cy="457200"/>
          </a:xfrm>
          <a:prstGeom prst="roundRect">
            <a:avLst>
              <a:gd name="adj" fmla="val 10000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66928" y="3630168"/>
            <a:ext cx="3758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7/7 injected defects caught · 5/5 governance controls upheld · 163/163 citations resolve · 28/28 tests compile · 9.1 min agent time, $0.63 est.</a:t>
            </a:r>
            <a:endParaRPr lang="en-US" sz="1100"/>
          </a:p>
        </p:txBody>
      </p:sp>
      <p:sp>
        <p:nvSpPr>
          <p:cNvPr id="15" name="Shape 12"/>
          <p:cNvSpPr/>
          <p:nvPr/>
        </p:nvSpPr>
        <p:spPr>
          <a:xfrm>
            <a:off x="4709160" y="1097280"/>
            <a:ext cx="3977640" cy="457200"/>
          </a:xfrm>
          <a:prstGeom prst="roundRect">
            <a:avLst>
              <a:gd name="adj" fmla="val 10000"/>
            </a:avLst>
          </a:prstGeom>
          <a:solidFill>
            <a:srgbClr val="0248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4800600" y="1097280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— measured on-account</a:t>
            </a:r>
            <a:endParaRPr lang="en-US" sz="1300"/>
          </a:p>
        </p:txBody>
      </p:sp>
      <p:sp>
        <p:nvSpPr>
          <p:cNvPr id="17" name="Text 14"/>
          <p:cNvSpPr/>
          <p:nvPr/>
        </p:nvSpPr>
        <p:spPr>
          <a:xfrm>
            <a:off x="4709160" y="16916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proven capable of failing</a:t>
            </a:r>
            <a:endParaRPr lang="en-US" sz="1200"/>
          </a:p>
        </p:txBody>
      </p:sp>
      <p:sp>
        <p:nvSpPr>
          <p:cNvPr id="18" name="Shape 15"/>
          <p:cNvSpPr/>
          <p:nvPr/>
        </p:nvSpPr>
        <p:spPr>
          <a:xfrm>
            <a:off x="4709160" y="1947672"/>
            <a:ext cx="3977640" cy="457200"/>
          </a:xfrm>
          <a:prstGeom prst="roundRect">
            <a:avLst>
              <a:gd name="adj" fmla="val 10000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818888" y="1947672"/>
            <a:ext cx="3758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defect classes injected into a sandbox copy of the conformed layer. 7/7 caught, every one by the expected taxonomy category.</a:t>
            </a:r>
            <a:endParaRPr lang="en-US" sz="1100"/>
          </a:p>
        </p:txBody>
      </p:sp>
      <p:sp>
        <p:nvSpPr>
          <p:cNvPr id="20" name="Text 17"/>
          <p:cNvSpPr/>
          <p:nvPr/>
        </p:nvSpPr>
        <p:spPr>
          <a:xfrm>
            <a:off x="4709160" y="253288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enforced, not assumed</a:t>
            </a:r>
            <a:endParaRPr lang="en-US" sz="1200"/>
          </a:p>
        </p:txBody>
      </p:sp>
      <p:sp>
        <p:nvSpPr>
          <p:cNvPr id="21" name="Shape 18"/>
          <p:cNvSpPr/>
          <p:nvPr/>
        </p:nvSpPr>
        <p:spPr>
          <a:xfrm>
            <a:off x="4709160" y="2788920"/>
            <a:ext cx="3977640" cy="457200"/>
          </a:xfrm>
          <a:prstGeom prst="roundRect">
            <a:avLst>
              <a:gd name="adj" fmla="val 10000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4818888" y="2788920"/>
            <a:ext cx="3758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source the PRD blocks pending a DPA was refused by both the requirements and build agents. Zero stories, zero code, zero rows.</a:t>
            </a:r>
            <a:endParaRPr lang="en-US" sz="1100"/>
          </a:p>
        </p:txBody>
      </p:sp>
      <p:sp>
        <p:nvSpPr>
          <p:cNvPr id="23" name="Text 20"/>
          <p:cNvSpPr/>
          <p:nvPr/>
        </p:nvSpPr>
        <p:spPr>
          <a:xfrm>
            <a:off x="4709160" y="337413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Traceability</a:t>
            </a:r>
            <a:endParaRPr lang="en-US" sz="1200"/>
          </a:p>
        </p:txBody>
      </p:sp>
      <p:sp>
        <p:nvSpPr>
          <p:cNvPr id="24" name="Shape 21"/>
          <p:cNvSpPr/>
          <p:nvPr/>
        </p:nvSpPr>
        <p:spPr>
          <a:xfrm>
            <a:off x="4709160" y="3630168"/>
            <a:ext cx="3977640" cy="457200"/>
          </a:xfrm>
          <a:prstGeom prst="roundRect">
            <a:avLst>
              <a:gd name="adj" fmla="val 10000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4818888" y="3630168"/>
            <a:ext cx="3758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records the governing chunks it relied on. 163/163 cited ids resolve — a deterministic check, not an opinion.</a:t>
            </a:r>
            <a:endParaRPr lang="en-US" sz="1100"/>
          </a:p>
        </p:txBody>
      </p:sp>
      <p:sp>
        <p:nvSpPr>
          <p:cNvPr id="26" name="Text 23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column is the Option 4 submission; right column summarises the evidence behind it.</a:t>
            </a:r>
            <a:endParaRPr lang="en-US" sz="1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AI Approach</a:t>
            </a:r>
            <a:endParaRPr lang="en-US" sz="26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92608"/>
            <a:ext cx="914400" cy="2747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097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— one sentence: the repeatable outcome you wanted AI to deliver</a:t>
            </a:r>
            <a:endParaRPr lang="en-US" sz="120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10000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66928" y="1371600"/>
            <a:ext cx="80101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 prose data requirement into a governed, tested, incrementally-refreshing Snowflake pipeline in one session — every artifact traceable to the clause that authorised it.</a:t>
            </a:r>
            <a:endParaRPr lang="en-US" sz="1100"/>
          </a:p>
        </p:txBody>
      </p:sp>
      <p:sp>
        <p:nvSpPr>
          <p:cNvPr id="7" name="Shape 4"/>
          <p:cNvSpPr/>
          <p:nvPr/>
        </p:nvSpPr>
        <p:spPr>
          <a:xfrm>
            <a:off x="457200" y="2057400"/>
            <a:ext cx="1572768" cy="2194560"/>
          </a:xfrm>
          <a:prstGeom prst="roundRect">
            <a:avLst>
              <a:gd name="adj" fmla="val 3488"/>
            </a:avLst>
          </a:prstGeom>
          <a:solidFill>
            <a:srgbClr val="DFE7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042416" y="2194560"/>
            <a:ext cx="402336" cy="402336"/>
          </a:xfrm>
          <a:prstGeom prst="ellipse">
            <a:avLst/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042416" y="21945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/>
          </a:p>
        </p:txBody>
      </p:sp>
      <p:sp>
        <p:nvSpPr>
          <p:cNvPr id="10" name="Text 7"/>
          <p:cNvSpPr/>
          <p:nvPr/>
        </p:nvSpPr>
        <p:spPr>
          <a:xfrm>
            <a:off x="512064" y="26974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Ground</a:t>
            </a:r>
            <a:endParaRPr lang="en-US" sz="1100"/>
          </a:p>
        </p:txBody>
      </p:sp>
      <p:sp>
        <p:nvSpPr>
          <p:cNvPr id="11" name="Text 8"/>
          <p:cNvSpPr/>
          <p:nvPr/>
        </p:nvSpPr>
        <p:spPr>
          <a:xfrm>
            <a:off x="530352" y="3017520"/>
            <a:ext cx="142646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governing docs → chunked → Cortex Search index. Built with Cortex Code + snow CLI.</a:t>
            </a:r>
            <a:endParaRPr lang="en-US" sz="950"/>
          </a:p>
        </p:txBody>
      </p:sp>
      <p:sp>
        <p:nvSpPr>
          <p:cNvPr id="12" name="Shape 9"/>
          <p:cNvSpPr/>
          <p:nvPr/>
        </p:nvSpPr>
        <p:spPr>
          <a:xfrm>
            <a:off x="2148840" y="2057400"/>
            <a:ext cx="1572768" cy="2194560"/>
          </a:xfrm>
          <a:prstGeom prst="roundRect">
            <a:avLst>
              <a:gd name="adj" fmla="val 3488"/>
            </a:avLst>
          </a:prstGeom>
          <a:solidFill>
            <a:srgbClr val="C5DC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2734056" y="2194560"/>
            <a:ext cx="402336" cy="402336"/>
          </a:xfrm>
          <a:prstGeom prst="ellipse">
            <a:avLst/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2734056" y="21945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/>
          </a:p>
        </p:txBody>
      </p:sp>
      <p:sp>
        <p:nvSpPr>
          <p:cNvPr id="15" name="Text 12"/>
          <p:cNvSpPr/>
          <p:nvPr/>
        </p:nvSpPr>
        <p:spPr>
          <a:xfrm>
            <a:off x="2203704" y="26974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Specify</a:t>
            </a:r>
            <a:endParaRPr lang="en-US" sz="1100"/>
          </a:p>
        </p:txBody>
      </p:sp>
      <p:sp>
        <p:nvSpPr>
          <p:cNvPr id="16" name="Text 13"/>
          <p:cNvSpPr/>
          <p:nvPr/>
        </p:nvSpPr>
        <p:spPr>
          <a:xfrm>
            <a:off x="2221992" y="3017520"/>
            <a:ext cx="142646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agent → cited user stories. Refuses work the docs prohibit.</a:t>
            </a:r>
            <a:endParaRPr lang="en-US" sz="950"/>
          </a:p>
        </p:txBody>
      </p:sp>
      <p:sp>
        <p:nvSpPr>
          <p:cNvPr id="17" name="Shape 14"/>
          <p:cNvSpPr/>
          <p:nvPr/>
        </p:nvSpPr>
        <p:spPr>
          <a:xfrm>
            <a:off x="3840480" y="2057400"/>
            <a:ext cx="1572768" cy="2194560"/>
          </a:xfrm>
          <a:prstGeom prst="roundRect">
            <a:avLst>
              <a:gd name="adj" fmla="val 3488"/>
            </a:avLst>
          </a:prstGeom>
          <a:solidFill>
            <a:srgbClr val="DFE7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425696" y="2194560"/>
            <a:ext cx="402336" cy="402336"/>
          </a:xfrm>
          <a:prstGeom prst="ellipse">
            <a:avLst/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425696" y="21945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/>
          </a:p>
        </p:txBody>
      </p:sp>
      <p:sp>
        <p:nvSpPr>
          <p:cNvPr id="20" name="Text 17"/>
          <p:cNvSpPr/>
          <p:nvPr/>
        </p:nvSpPr>
        <p:spPr>
          <a:xfrm>
            <a:off x="3895344" y="26974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Build</a:t>
            </a:r>
            <a:endParaRPr lang="en-US" sz="1100"/>
          </a:p>
        </p:txBody>
      </p:sp>
      <p:sp>
        <p:nvSpPr>
          <p:cNvPr id="21" name="Text 18"/>
          <p:cNvSpPr/>
          <p:nvPr/>
        </p:nvSpPr>
        <p:spPr>
          <a:xfrm>
            <a:off x="3913632" y="3017520"/>
            <a:ext cx="142646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agent → conformance SQL, EXPLAIN-verified. Human approval gate.</a:t>
            </a:r>
            <a:endParaRPr lang="en-US" sz="950"/>
          </a:p>
        </p:txBody>
      </p:sp>
      <p:sp>
        <p:nvSpPr>
          <p:cNvPr id="22" name="Shape 19"/>
          <p:cNvSpPr/>
          <p:nvPr/>
        </p:nvSpPr>
        <p:spPr>
          <a:xfrm>
            <a:off x="5532120" y="2057400"/>
            <a:ext cx="1572768" cy="2194560"/>
          </a:xfrm>
          <a:prstGeom prst="roundRect">
            <a:avLst>
              <a:gd name="adj" fmla="val 3488"/>
            </a:avLst>
          </a:prstGeom>
          <a:solidFill>
            <a:srgbClr val="C5DC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6117336" y="2194560"/>
            <a:ext cx="402336" cy="402336"/>
          </a:xfrm>
          <a:prstGeom prst="ellipse">
            <a:avLst/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117336" y="21945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/>
          </a:p>
        </p:txBody>
      </p:sp>
      <p:sp>
        <p:nvSpPr>
          <p:cNvPr id="25" name="Text 22"/>
          <p:cNvSpPr/>
          <p:nvPr/>
        </p:nvSpPr>
        <p:spPr>
          <a:xfrm>
            <a:off x="5586984" y="26974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Verify</a:t>
            </a:r>
            <a:endParaRPr lang="en-US" sz="1100"/>
          </a:p>
        </p:txBody>
      </p:sp>
      <p:sp>
        <p:nvSpPr>
          <p:cNvPr id="26" name="Text 23"/>
          <p:cNvSpPr/>
          <p:nvPr/>
        </p:nvSpPr>
        <p:spPr>
          <a:xfrm>
            <a:off x="5605272" y="3017520"/>
            <a:ext cx="142646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agent → 28 assertions. 7 defects injected to prove they fail.</a:t>
            </a:r>
            <a:endParaRPr lang="en-US" sz="950"/>
          </a:p>
        </p:txBody>
      </p:sp>
      <p:sp>
        <p:nvSpPr>
          <p:cNvPr id="27" name="Shape 24"/>
          <p:cNvSpPr/>
          <p:nvPr/>
        </p:nvSpPr>
        <p:spPr>
          <a:xfrm>
            <a:off x="7223760" y="2057400"/>
            <a:ext cx="1572768" cy="2194560"/>
          </a:xfrm>
          <a:prstGeom prst="roundRect">
            <a:avLst>
              <a:gd name="adj" fmla="val 3488"/>
            </a:avLst>
          </a:prstGeom>
          <a:solidFill>
            <a:srgbClr val="DFE7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7808976" y="2194560"/>
            <a:ext cx="402336" cy="402336"/>
          </a:xfrm>
          <a:prstGeom prst="ellipse">
            <a:avLst/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7808976" y="21945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/>
          </a:p>
        </p:txBody>
      </p:sp>
      <p:sp>
        <p:nvSpPr>
          <p:cNvPr id="30" name="Text 27"/>
          <p:cNvSpPr/>
          <p:nvPr/>
        </p:nvSpPr>
        <p:spPr>
          <a:xfrm>
            <a:off x="7278624" y="26974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Operate</a:t>
            </a:r>
            <a:endParaRPr lang="en-US" sz="1100"/>
          </a:p>
        </p:txBody>
      </p:sp>
      <p:sp>
        <p:nvSpPr>
          <p:cNvPr id="31" name="Text 28"/>
          <p:cNvSpPr/>
          <p:nvPr/>
        </p:nvSpPr>
        <p:spPr>
          <a:xfrm>
            <a:off x="7296912" y="3017520"/>
            <a:ext cx="142646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agent, run log, dashboard. n8n gate + Snowflake Task DAG.</a:t>
            </a:r>
            <a:endParaRPr lang="en-US" sz="950"/>
          </a:p>
        </p:txBody>
      </p:sp>
      <p:sp>
        <p:nvSpPr>
          <p:cNvPr id="32" name="Text 29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five steps are Snowflake stored procedures, so either orchestrator calls the same code.</a:t>
            </a:r>
            <a:endParaRPr lang="en-US" sz="1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→ After</a:t>
            </a:r>
            <a:endParaRPr lang="en-US" sz="26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92608"/>
            <a:ext cx="914400" cy="27473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097280"/>
            <a:ext cx="3977640" cy="457200"/>
          </a:xfrm>
          <a:prstGeom prst="roundRect">
            <a:avLst>
              <a:gd name="adj" fmla="val 10000"/>
            </a:avLst>
          </a:prstGeom>
          <a:solidFill>
            <a:srgbClr val="5A6B7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457200" y="10972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— The Manual Way</a:t>
            </a:r>
            <a:endParaRPr lang="en-US" sz="1400"/>
          </a:p>
        </p:txBody>
      </p:sp>
      <p:sp>
        <p:nvSpPr>
          <p:cNvPr id="6" name="Text 3"/>
          <p:cNvSpPr/>
          <p:nvPr/>
        </p:nvSpPr>
        <p:spPr>
          <a:xfrm>
            <a:off x="548640" y="1691640"/>
            <a:ext cx="3794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6 governing documents, then hand-write per-source mappings, tests and test data</a:t>
            </a:r>
            <a:endParaRPr lang="en-US" sz="120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 records ~6 analyst-days per quarter of manual consolidation (est. baseline — not measured in this build)</a:t>
            </a:r>
            <a:endParaRPr lang="en-US" sz="120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failures: a UNION instead of UNION ALL dropped 4% of rows; defaulting unmapped payment terms understated DPO by 11 days</a:t>
            </a:r>
            <a:endParaRPr lang="en-US" sz="120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rules surface in production, not in review</a:t>
            </a:r>
            <a:endParaRPr lang="en-US" sz="1200"/>
          </a:p>
        </p:txBody>
      </p:sp>
      <p:sp>
        <p:nvSpPr>
          <p:cNvPr id="7" name="Shape 4"/>
          <p:cNvSpPr/>
          <p:nvPr/>
        </p:nvSpPr>
        <p:spPr>
          <a:xfrm>
            <a:off x="4709160" y="1097280"/>
            <a:ext cx="3977640" cy="457200"/>
          </a:xfrm>
          <a:prstGeom prst="roundRect">
            <a:avLst>
              <a:gd name="adj" fmla="val 10000"/>
            </a:avLst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709160" y="10972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— The AI-Assisted Way</a:t>
            </a:r>
            <a:endParaRPr lang="en-US" sz="1400"/>
          </a:p>
        </p:txBody>
      </p:sp>
      <p:sp>
        <p:nvSpPr>
          <p:cNvPr id="9" name="Text 6"/>
          <p:cNvSpPr/>
          <p:nvPr/>
        </p:nvSpPr>
        <p:spPr>
          <a:xfrm>
            <a:off x="4800600" y="1691640"/>
            <a:ext cx="3794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agent runs → 17 cited stories, 3 staging models, 28 tests, 1 synthetic batch, 7 triaged defects</a:t>
            </a:r>
            <a:endParaRPr lang="en-US" sz="120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refinement rounds: retrieval recall 5 → 17 chunks; corpus defects fixed after the judge flagged them</a:t>
            </a:r>
            <a:endParaRPr lang="en-US" sz="120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pass: 3/3 models and 28/28 tests compiled with no manual edits</a:t>
            </a:r>
            <a:endParaRPr lang="en-US" sz="120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 min total agent time, $0.63 est. — measured from METRICS.AGENT_RUN_LOG</a:t>
            </a:r>
            <a:endParaRPr lang="en-US" sz="1200"/>
          </a:p>
        </p:txBody>
      </p:sp>
      <p:sp>
        <p:nvSpPr>
          <p:cNvPr id="10" name="Text 7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to paste: Streamlit dashboard → Evidence tab (METRICS.V_EVAL_SUMMARY).</a:t>
            </a:r>
            <a:endParaRPr lang="en-US" sz="1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Impact Scorecard</a:t>
            </a:r>
            <a:endParaRPr lang="en-US" sz="26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92608"/>
            <a:ext cx="914400" cy="27473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269748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50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AI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50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AI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50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50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Conformance SQL per source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~2–3 hrs each (est.)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s each (measured)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3/3 compiled first pass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quality suite authoring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 day (est.)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 s (measured)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28/28 compiled, 27/27 pass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Suite proven able to fail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Rarely done at all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defect classes injected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7/7 caught by expected category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 → governed backlog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Days, document-dependent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 s per requirement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stories, 163/163 citations valid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Out-of-scope work prevented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Caught late, if at all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Refused before any code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 governance controls upheld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6667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/>
          <p:nvPr/>
        </p:nvSpPr>
        <p:spPr>
          <a:xfrm>
            <a:off x="566928" y="3977640"/>
            <a:ext cx="80101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AI-side figures are measured from the run log (20 runs, 9.1 min, $0.63 est.). Baselines marked (est.) are consultant estimates — this build had no human control arm, so no % time-saved is claimed. The defensible gain is verifiability: 7/7 injected defects caught and every artifact traceable to its governing clause.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Reusability &amp; Scale</a:t>
            </a:r>
            <a:endParaRPr lang="en-US" sz="26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92608"/>
            <a:ext cx="914400" cy="27473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143000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DFE7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594360" y="1280160"/>
            <a:ext cx="365760" cy="365760"/>
          </a:xfrm>
          <a:prstGeom prst="ellipse">
            <a:avLst/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94360" y="1280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/>
          </a:p>
        </p:txBody>
      </p:sp>
      <p:sp>
        <p:nvSpPr>
          <p:cNvPr id="7" name="Text 4"/>
          <p:cNvSpPr/>
          <p:nvPr/>
        </p:nvSpPr>
        <p:spPr>
          <a:xfrm>
            <a:off x="1097280" y="1280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reusable?</a:t>
            </a:r>
            <a:endParaRPr lang="en-US" sz="1400"/>
          </a:p>
        </p:txBody>
      </p:sp>
      <p:sp>
        <p:nvSpPr>
          <p:cNvPr id="8" name="Text 5"/>
          <p:cNvSpPr/>
          <p:nvPr/>
        </p:nvSpPr>
        <p:spPr>
          <a:xfrm>
            <a:off x="640080" y="1709928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accelerator: 18 ordered deploy scripts, 5 agent procedures, the RAG layer, the mutation + labelled-triage eval harness, 2 n8n workflows, a dbt project.</a:t>
            </a:r>
            <a:endParaRPr lang="en-US" sz="1150"/>
          </a:p>
        </p:txBody>
      </p:sp>
      <p:sp>
        <p:nvSpPr>
          <p:cNvPr id="9" name="Shape 6"/>
          <p:cNvSpPr/>
          <p:nvPr/>
        </p:nvSpPr>
        <p:spPr>
          <a:xfrm>
            <a:off x="4709160" y="1143000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C5DC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846320" y="1280160"/>
            <a:ext cx="365760" cy="365760"/>
          </a:xfrm>
          <a:prstGeom prst="ellipse">
            <a:avLst/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846320" y="1280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/>
          </a:p>
        </p:txBody>
      </p:sp>
      <p:sp>
        <p:nvSpPr>
          <p:cNvPr id="12" name="Text 9"/>
          <p:cNvSpPr/>
          <p:nvPr/>
        </p:nvSpPr>
        <p:spPr>
          <a:xfrm>
            <a:off x="5349240" y="1280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can adopt it?</a:t>
            </a:r>
            <a:endParaRPr lang="en-US" sz="1400"/>
          </a:p>
        </p:txBody>
      </p:sp>
      <p:sp>
        <p:nvSpPr>
          <p:cNvPr id="13" name="Text 10"/>
          <p:cNvSpPr/>
          <p:nvPr/>
        </p:nvSpPr>
        <p:spPr>
          <a:xfrm>
            <a:off x="4892040" y="1709928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Snowflake + dbt team. Swap the 6 governing documents and repoint the bronze tables — agents read the target contract from metadata, not from prompts.</a:t>
            </a:r>
            <a:endParaRPr lang="en-US" sz="115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DFE7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594360" y="2926080"/>
            <a:ext cx="365760" cy="365760"/>
          </a:xfrm>
          <a:prstGeom prst="ellipse">
            <a:avLst/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594360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/>
          </a:p>
        </p:txBody>
      </p:sp>
      <p:sp>
        <p:nvSpPr>
          <p:cNvPr id="17" name="Text 14"/>
          <p:cNvSpPr/>
          <p:nvPr/>
        </p:nvSpPr>
        <p:spPr>
          <a:xfrm>
            <a:off x="1097280" y="2926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did you package?</a:t>
            </a:r>
            <a:endParaRPr lang="en-US" sz="1400"/>
          </a:p>
        </p:txBody>
      </p:sp>
      <p:sp>
        <p:nvSpPr>
          <p:cNvPr id="18" name="Text 15"/>
          <p:cNvSpPr/>
          <p:nvPr/>
        </p:nvSpPr>
        <p:spPr>
          <a:xfrm>
            <a:off x="640080" y="3355848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with ordered deploy steps, docs/CAPSTONE.md write-up, a deployed Streamlit dashboard, and an n8n README stating the SQL API prerequisites.</a:t>
            </a:r>
            <a:endParaRPr lang="en-US" sz="1150"/>
          </a:p>
        </p:txBody>
      </p:sp>
      <p:sp>
        <p:nvSpPr>
          <p:cNvPr id="19" name="Shape 16"/>
          <p:cNvSpPr/>
          <p:nvPr/>
        </p:nvSpPr>
        <p:spPr>
          <a:xfrm>
            <a:off x="4709160" y="2788920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C5DC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4846320" y="2926080"/>
            <a:ext cx="365760" cy="365760"/>
          </a:xfrm>
          <a:prstGeom prst="ellipse">
            <a:avLst/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4846320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600"/>
          </a:p>
        </p:txBody>
      </p:sp>
      <p:sp>
        <p:nvSpPr>
          <p:cNvPr id="22" name="Text 19"/>
          <p:cNvSpPr/>
          <p:nvPr/>
        </p:nvSpPr>
        <p:spPr>
          <a:xfrm>
            <a:off x="5349240" y="2926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Org-scale potential</a:t>
            </a:r>
            <a:endParaRPr lang="en-US" sz="1400"/>
          </a:p>
        </p:txBody>
      </p:sp>
      <p:sp>
        <p:nvSpPr>
          <p:cNvPr id="23" name="Text 20"/>
          <p:cNvSpPr/>
          <p:nvPr/>
        </p:nvSpPr>
        <p:spPr>
          <a:xfrm>
            <a:off x="4892040" y="3355848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repeatable pattern for every source-onboarding engagement, and an injected-defect harness that gives a QA lead objective evidence a generated suite actually works.</a:t>
            </a:r>
            <a:endParaRPr lang="en-US" sz="115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AI Got Right &amp; What It Got Wrong</a:t>
            </a:r>
            <a:endParaRPr lang="en-US" sz="26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92608"/>
            <a:ext cx="914400" cy="27473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4348"/>
            </a:avLst>
          </a:prstGeom>
          <a:solidFill>
            <a:srgbClr val="DFE7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621792" y="1463040"/>
            <a:ext cx="411480" cy="411480"/>
          </a:xfrm>
          <a:prstGeom prst="ellipse">
            <a:avLst/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188720" y="1234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AI got RIGHT</a:t>
            </a:r>
            <a:endParaRPr lang="en-US" sz="1400"/>
          </a:p>
        </p:txBody>
      </p:sp>
      <p:sp>
        <p:nvSpPr>
          <p:cNvPr id="7" name="Text 4"/>
          <p:cNvSpPr/>
          <p:nvPr/>
        </p:nvSpPr>
        <p:spPr>
          <a:xfrm>
            <a:off x="1188720" y="1600200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buSzPct val="100000"/>
              <a:buChar char="•"/>
            </a:pPr>
            <a:r>
              <a:rPr lang="en-US" sz="9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generation was genuinely accurate: 3/3 staging models and 28/28 tests compiled first pass, honouring the first-hyphen cost-centre rule and the ban on defaulting unmapped payment terms</a:t>
            </a:r>
            <a:endParaRPr lang="en-US" sz="1150"/>
          </a:p>
          <a:p>
            <a:pPr marL="152400" indent="-152400">
              <a:buSzPct val="100000"/>
              <a:buChar char="•"/>
            </a:pPr>
            <a:r>
              <a:rPr lang="en-US" sz="9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 prohibited work: quoted the PRD clause blocking a source pending a DPA and wrote zero stories for it</a:t>
            </a:r>
            <a:endParaRPr lang="en-US" sz="1150"/>
          </a:p>
        </p:txBody>
      </p:sp>
      <p:sp>
        <p:nvSpPr>
          <p:cNvPr id="8" name="Shape 5"/>
          <p:cNvSpPr/>
          <p:nvPr/>
        </p:nvSpPr>
        <p:spPr>
          <a:xfrm>
            <a:off x="457200" y="2350008"/>
            <a:ext cx="8229600" cy="1051560"/>
          </a:xfrm>
          <a:prstGeom prst="roundRect">
            <a:avLst>
              <a:gd name="adj" fmla="val 4348"/>
            </a:avLst>
          </a:prstGeom>
          <a:solidFill>
            <a:srgbClr val="DFE7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621792" y="2670048"/>
            <a:ext cx="411480" cy="411480"/>
          </a:xfrm>
          <a:prstGeom prst="ellipse">
            <a:avLst/>
          </a:prstGeom>
          <a:solidFill>
            <a:srgbClr val="FE3A3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1188720" y="24414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E3A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AI got WRONG</a:t>
            </a:r>
            <a:endParaRPr lang="en-US" sz="1400"/>
          </a:p>
        </p:txBody>
      </p:sp>
      <p:sp>
        <p:nvSpPr>
          <p:cNvPr id="11" name="Text 8"/>
          <p:cNvSpPr/>
          <p:nvPr/>
        </p:nvSpPr>
        <p:spPr>
          <a:xfrm>
            <a:off x="1188720" y="2807208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buSzPct val="100000"/>
              <a:buChar char="•"/>
            </a:pPr>
            <a:r>
              <a:rPr lang="en-US" sz="9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 an approval-status mapping when retrieval missed the mapping table — would have written NULL into a NOT NULL contract column. Cause: one broad retrieval query, not the model</a:t>
            </a:r>
            <a:endParaRPr lang="en-US" sz="1150"/>
          </a:p>
          <a:p>
            <a:pPr marL="152400" indent="-152400">
              <a:buSzPct val="100000"/>
              <a:buChar char="•"/>
            </a:pPr>
            <a:r>
              <a:rPr lang="en-US" sz="9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Overconfident triage: 0.93 stated confidence against 0.86 category and 0.71 severity accuracy; escalated HIGH to CRITICAL twice</a:t>
            </a:r>
            <a:endParaRPr lang="en-US" sz="1150"/>
          </a:p>
        </p:txBody>
      </p:sp>
      <p:sp>
        <p:nvSpPr>
          <p:cNvPr id="12" name="Shape 9"/>
          <p:cNvSpPr/>
          <p:nvPr/>
        </p:nvSpPr>
        <p:spPr>
          <a:xfrm>
            <a:off x="457200" y="3557016"/>
            <a:ext cx="8229600" cy="1051560"/>
          </a:xfrm>
          <a:prstGeom prst="roundRect">
            <a:avLst>
              <a:gd name="adj" fmla="val 4348"/>
            </a:avLst>
          </a:prstGeom>
          <a:solidFill>
            <a:srgbClr val="DFE7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621792" y="3877056"/>
            <a:ext cx="411480" cy="411480"/>
          </a:xfrm>
          <a:prstGeom prst="ellipse">
            <a:avLst/>
          </a:prstGeom>
          <a:solidFill>
            <a:srgbClr val="0248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1188720" y="3648456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corrected manually</a:t>
            </a:r>
            <a:endParaRPr lang="en-US" sz="1400"/>
          </a:p>
        </p:txBody>
      </p:sp>
      <p:sp>
        <p:nvSpPr>
          <p:cNvPr id="15" name="Text 12"/>
          <p:cNvSpPr/>
          <p:nvPr/>
        </p:nvSpPr>
        <p:spPr>
          <a:xfrm>
            <a:off x="1188720" y="4014216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buSzPct val="100000"/>
              <a:buChar char="•"/>
            </a:pPr>
            <a:r>
              <a:rPr lang="en-US" sz="9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Rewrote retrieval as one targeted query per fact (5 → 17 chunks) and defined the triage categories explicitly (71% → 86%)</a:t>
            </a:r>
            <a:endParaRPr lang="en-US" sz="1150"/>
          </a:p>
          <a:p>
            <a:pPr marL="152400" indent="-152400">
              <a:buSzPct val="100000"/>
              <a:buChar char="•"/>
            </a:pPr>
            <a:r>
              <a:rPr lang="en-US" sz="9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judge's flagged 'hallucinations' were mostly defects in the documents I wrote — BR-006 demanded a column no contract had. I fixed the corpus, not the agent</a:t>
            </a:r>
            <a:endParaRPr lang="en-US" sz="11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&amp; Artifacts</a:t>
            </a:r>
            <a:endParaRPr lang="en-US" sz="26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92608"/>
            <a:ext cx="914400" cy="2747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097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Links &amp; attachments — the proof behind every claim</a:t>
            </a:r>
            <a:endParaRPr lang="en-US" sz="1200"/>
          </a:p>
        </p:txBody>
      </p:sp>
      <p:sp>
        <p:nvSpPr>
          <p:cNvPr id="5" name="Text 2"/>
          <p:cNvSpPr/>
          <p:nvPr/>
        </p:nvSpPr>
        <p:spPr>
          <a:xfrm>
            <a:off x="457200" y="14173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 link(s) / merged commits</a:t>
            </a:r>
            <a:endParaRPr lang="en-US" sz="1150"/>
          </a:p>
        </p:txBody>
      </p:sp>
      <p:sp>
        <p:nvSpPr>
          <p:cNvPr id="6" name="Shape 3"/>
          <p:cNvSpPr/>
          <p:nvPr/>
        </p:nvSpPr>
        <p:spPr>
          <a:xfrm>
            <a:off x="2423160" y="1417320"/>
            <a:ext cx="2103120" cy="411480"/>
          </a:xfrm>
          <a:prstGeom prst="roundRect">
            <a:avLst>
              <a:gd name="adj" fmla="val 11111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2532888" y="1417320"/>
            <a:ext cx="18836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capstone-ai-dlc/ — 18 SQL scripts</a:t>
            </a:r>
            <a:endParaRPr lang="en-US" sz="1100"/>
          </a:p>
        </p:txBody>
      </p:sp>
      <p:sp>
        <p:nvSpPr>
          <p:cNvPr id="8" name="Text 5"/>
          <p:cNvSpPr/>
          <p:nvPr/>
        </p:nvSpPr>
        <p:spPr>
          <a:xfrm>
            <a:off x="4709160" y="14173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Design docs / demo recording</a:t>
            </a:r>
            <a:endParaRPr lang="en-US" sz="1150"/>
          </a:p>
        </p:txBody>
      </p:sp>
      <p:sp>
        <p:nvSpPr>
          <p:cNvPr id="9" name="Shape 6"/>
          <p:cNvSpPr/>
          <p:nvPr/>
        </p:nvSpPr>
        <p:spPr>
          <a:xfrm>
            <a:off x="6675120" y="1417320"/>
            <a:ext cx="2103120" cy="411480"/>
          </a:xfrm>
          <a:prstGeom prst="roundRect">
            <a:avLst>
              <a:gd name="adj" fmla="val 11111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784848" y="1417320"/>
            <a:ext cx="18836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docs/CAPSTONE.md</a:t>
            </a:r>
            <a:endParaRPr lang="en-US" sz="1100"/>
          </a:p>
        </p:txBody>
      </p:sp>
      <p:sp>
        <p:nvSpPr>
          <p:cNvPr id="11" name="Text 8"/>
          <p:cNvSpPr/>
          <p:nvPr/>
        </p:nvSpPr>
        <p:spPr>
          <a:xfrm>
            <a:off x="457200" y="22860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Prompt log / agent transcript</a:t>
            </a:r>
            <a:endParaRPr lang="en-US" sz="1150"/>
          </a:p>
        </p:txBody>
      </p:sp>
      <p:sp>
        <p:nvSpPr>
          <p:cNvPr id="12" name="Shape 9"/>
          <p:cNvSpPr/>
          <p:nvPr/>
        </p:nvSpPr>
        <p:spPr>
          <a:xfrm>
            <a:off x="2423160" y="2286000"/>
            <a:ext cx="2103120" cy="411480"/>
          </a:xfrm>
          <a:prstGeom prst="roundRect">
            <a:avLst>
              <a:gd name="adj" fmla="val 11111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2532888" y="2286000"/>
            <a:ext cx="18836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METRICS.AGENT_RUN_LOG</a:t>
            </a:r>
            <a:endParaRPr lang="en-US" sz="1100"/>
          </a:p>
        </p:txBody>
      </p:sp>
      <p:sp>
        <p:nvSpPr>
          <p:cNvPr id="14" name="Text 11"/>
          <p:cNvSpPr/>
          <p:nvPr/>
        </p:nvSpPr>
        <p:spPr>
          <a:xfrm>
            <a:off x="4709160" y="22860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Screenshots on the slides above</a:t>
            </a:r>
            <a:endParaRPr lang="en-US" sz="1150"/>
          </a:p>
        </p:txBody>
      </p:sp>
      <p:sp>
        <p:nvSpPr>
          <p:cNvPr id="15" name="Shape 12"/>
          <p:cNvSpPr/>
          <p:nvPr/>
        </p:nvSpPr>
        <p:spPr>
          <a:xfrm>
            <a:off x="6675120" y="2286000"/>
            <a:ext cx="2103120" cy="411480"/>
          </a:xfrm>
          <a:prstGeom prst="roundRect">
            <a:avLst>
              <a:gd name="adj" fmla="val 11111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784848" y="2286000"/>
            <a:ext cx="18836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APP.CAPSTONE_DASHBOARD</a:t>
            </a:r>
            <a:endParaRPr lang="en-US" sz="1100"/>
          </a:p>
        </p:txBody>
      </p:sp>
      <p:sp>
        <p:nvSpPr>
          <p:cNvPr id="17" name="Shape 14"/>
          <p:cNvSpPr/>
          <p:nvPr/>
        </p:nvSpPr>
        <p:spPr>
          <a:xfrm>
            <a:off x="457200" y="3383280"/>
            <a:ext cx="8229600" cy="1234440"/>
          </a:xfrm>
          <a:prstGeom prst="roundRect">
            <a:avLst>
              <a:gd name="adj" fmla="val 4444"/>
            </a:avLst>
          </a:prstGeom>
          <a:solidFill>
            <a:srgbClr val="C5DC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40080" y="34747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Validator</a:t>
            </a:r>
            <a:endParaRPr lang="en-US" sz="1400"/>
          </a:p>
        </p:txBody>
      </p:sp>
      <p:sp>
        <p:nvSpPr>
          <p:cNvPr id="19" name="Text 16"/>
          <p:cNvSpPr/>
          <p:nvPr/>
        </p:nvSpPr>
        <p:spPr>
          <a:xfrm>
            <a:off x="640080" y="37947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4 → Practice / Capability Lead   ·   full prompt, citations and cost per run are queryable in METRICS.AGENT_RUN_LOG</a:t>
            </a:r>
            <a:endParaRPr lang="en-US" sz="1100"/>
          </a:p>
        </p:txBody>
      </p:sp>
      <p:sp>
        <p:nvSpPr>
          <p:cNvPr id="20" name="Text 17"/>
          <p:cNvSpPr/>
          <p:nvPr/>
        </p:nvSpPr>
        <p:spPr>
          <a:xfrm>
            <a:off x="640080" y="41605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 </a:t>
            </a:r>
            <a:r>
              <a:rPr lang="en-US" sz="12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      </a:t>
            </a:r>
            <a:r>
              <a:rPr lang="en-US" sz="1200" b="1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</a:t>
            </a:r>
            <a:r>
              <a:rPr lang="en-US" sz="12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      </a:t>
            </a:r>
            <a:r>
              <a:rPr lang="en-US" sz="1200" b="1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Email: </a:t>
            </a:r>
            <a:r>
              <a:rPr lang="en-US" sz="12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</a:t>
            </a:r>
            <a:endParaRPr lang="en-US" sz="12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Rubric — 5 Topics</a:t>
            </a:r>
            <a:endParaRPr lang="en-US" sz="26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92608"/>
            <a:ext cx="914400" cy="2747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topic scored 0–30. Demonstrate at least 3. Clear at 70 / 150.</a:t>
            </a:r>
            <a:endParaRPr lang="en-US" sz="120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320040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Competency topic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50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earns top marks (25–30)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50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50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0248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Spec-Driven Development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7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 discipline governs agent behaviour and hand-offs, not just a single file.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7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7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0248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AI-Powered Development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Advanced Claude Code / Copilot (agent modes, CLI, skills) delivering working software.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0248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Evaluation &amp; Interpretability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7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Objective evaluation (LLM-as-judge, scored comparisons); data-grounded decisions.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7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7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0248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Design, Orchestration &amp; Ops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/ multi-step orchestration with failure handling, recovery, observability.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0248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Tool Integration &amp; Extensibility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7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Extended agents via MCP servers, hooks, or custom skills/tools — secure and reusable.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7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7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4526280"/>
            <a:ext cx="1965960" cy="411480"/>
          </a:xfrm>
          <a:prstGeom prst="roundRect">
            <a:avLst>
              <a:gd name="adj" fmla="val 8889"/>
            </a:avLst>
          </a:prstGeom>
          <a:solidFill>
            <a:srgbClr val="71D8C5"/>
          </a:solidFill>
          <a:ln w="9525">
            <a:solidFill>
              <a:srgbClr val="B7C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457200" y="452628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1B2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Distinction  25–30</a:t>
            </a:r>
            <a:endParaRPr lang="en-US" sz="1000"/>
          </a:p>
        </p:txBody>
      </p:sp>
      <p:sp>
        <p:nvSpPr>
          <p:cNvPr id="8" name="Shape 4"/>
          <p:cNvSpPr/>
          <p:nvPr/>
        </p:nvSpPr>
        <p:spPr>
          <a:xfrm>
            <a:off x="2532888" y="4526280"/>
            <a:ext cx="1965960" cy="411480"/>
          </a:xfrm>
          <a:prstGeom prst="roundRect">
            <a:avLst>
              <a:gd name="adj" fmla="val 8889"/>
            </a:avLst>
          </a:prstGeom>
          <a:solidFill>
            <a:srgbClr val="C5DCEE"/>
          </a:solidFill>
          <a:ln w="9525">
            <a:solidFill>
              <a:srgbClr val="B7C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2532888" y="452628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1B2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Proficient  18–24</a:t>
            </a:r>
            <a:endParaRPr lang="en-US" sz="1000"/>
          </a:p>
        </p:txBody>
      </p:sp>
      <p:sp>
        <p:nvSpPr>
          <p:cNvPr id="10" name="Shape 6"/>
          <p:cNvSpPr/>
          <p:nvPr/>
        </p:nvSpPr>
        <p:spPr>
          <a:xfrm>
            <a:off x="4608576" y="4526280"/>
            <a:ext cx="1965960" cy="411480"/>
          </a:xfrm>
          <a:prstGeom prst="roundRect">
            <a:avLst>
              <a:gd name="adj" fmla="val 8889"/>
            </a:avLst>
          </a:prstGeom>
          <a:solidFill>
            <a:srgbClr val="DFE7ED"/>
          </a:solidFill>
          <a:ln w="9525">
            <a:solidFill>
              <a:srgbClr val="B7C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7"/>
          <p:cNvSpPr/>
          <p:nvPr/>
        </p:nvSpPr>
        <p:spPr>
          <a:xfrm>
            <a:off x="4608576" y="452628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1B2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Developing  10–17</a:t>
            </a:r>
            <a:endParaRPr lang="en-US" sz="1000"/>
          </a:p>
        </p:txBody>
      </p:sp>
      <p:sp>
        <p:nvSpPr>
          <p:cNvPr id="12" name="Shape 8"/>
          <p:cNvSpPr/>
          <p:nvPr/>
        </p:nvSpPr>
        <p:spPr>
          <a:xfrm>
            <a:off x="6684264" y="4526280"/>
            <a:ext cx="1965960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B7C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6684264" y="452628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1B2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Emerging  0–9</a:t>
            </a:r>
            <a:endParaRPr lang="en-US" sz="1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Self-Rating</a:t>
            </a:r>
            <a:endParaRPr lang="en-US" sz="26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92608"/>
            <a:ext cx="914400" cy="2747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each topic you demonstrated (0–30). Leave blank if not used (min 3 required).</a:t>
            </a:r>
            <a:endParaRPr lang="en-US" sz="120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6949440" cy="457200"/>
          </a:xfrm>
          <a:prstGeom prst="roundRect">
            <a:avLst>
              <a:gd name="adj" fmla="val 8000"/>
            </a:avLst>
          </a:prstGeom>
          <a:solidFill>
            <a:srgbClr val="DFE7ED"/>
          </a:solidFill>
          <a:ln w="6350">
            <a:solidFill>
              <a:srgbClr val="B7C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94360" y="128016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Spec-Driven Development</a:t>
            </a:r>
            <a:endParaRPr lang="en-US" sz="1250"/>
          </a:p>
        </p:txBody>
      </p:sp>
      <p:sp>
        <p:nvSpPr>
          <p:cNvPr id="7" name="Shape 4"/>
          <p:cNvSpPr/>
          <p:nvPr/>
        </p:nvSpPr>
        <p:spPr>
          <a:xfrm>
            <a:off x="7543800" y="1280160"/>
            <a:ext cx="1143000" cy="457200"/>
          </a:xfrm>
          <a:prstGeom prst="roundRect">
            <a:avLst>
              <a:gd name="adj" fmla="val 8000"/>
            </a:avLst>
          </a:prstGeom>
          <a:solidFill>
            <a:srgbClr val="C5DCEE"/>
          </a:solidFill>
          <a:ln w="12700">
            <a:solidFill>
              <a:srgbClr val="0750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543800" y="128016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30</a:t>
            </a:r>
            <a:endParaRPr lang="en-US" sz="1200"/>
          </a:p>
        </p:txBody>
      </p:sp>
      <p:sp>
        <p:nvSpPr>
          <p:cNvPr id="9" name="Shape 6"/>
          <p:cNvSpPr/>
          <p:nvPr/>
        </p:nvSpPr>
        <p:spPr>
          <a:xfrm>
            <a:off x="457200" y="1810512"/>
            <a:ext cx="69494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B7C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94360" y="1810512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AI-Powered Development</a:t>
            </a:r>
            <a:endParaRPr lang="en-US" sz="1250"/>
          </a:p>
        </p:txBody>
      </p:sp>
      <p:sp>
        <p:nvSpPr>
          <p:cNvPr id="11" name="Shape 8"/>
          <p:cNvSpPr/>
          <p:nvPr/>
        </p:nvSpPr>
        <p:spPr>
          <a:xfrm>
            <a:off x="7543800" y="1810512"/>
            <a:ext cx="1143000" cy="457200"/>
          </a:xfrm>
          <a:prstGeom prst="roundRect">
            <a:avLst>
              <a:gd name="adj" fmla="val 8000"/>
            </a:avLst>
          </a:prstGeom>
          <a:solidFill>
            <a:srgbClr val="C5DCEE"/>
          </a:solidFill>
          <a:ln w="12700">
            <a:solidFill>
              <a:srgbClr val="0750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543800" y="1810512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30</a:t>
            </a:r>
            <a:endParaRPr lang="en-US" sz="1200"/>
          </a:p>
        </p:txBody>
      </p:sp>
      <p:sp>
        <p:nvSpPr>
          <p:cNvPr id="13" name="Shape 10"/>
          <p:cNvSpPr/>
          <p:nvPr/>
        </p:nvSpPr>
        <p:spPr>
          <a:xfrm>
            <a:off x="457200" y="2340864"/>
            <a:ext cx="6949440" cy="457200"/>
          </a:xfrm>
          <a:prstGeom prst="roundRect">
            <a:avLst>
              <a:gd name="adj" fmla="val 8000"/>
            </a:avLst>
          </a:prstGeom>
          <a:solidFill>
            <a:srgbClr val="DFE7ED"/>
          </a:solidFill>
          <a:ln w="6350">
            <a:solidFill>
              <a:srgbClr val="B7C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94360" y="2340864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LLM Evaluation &amp; Interpretability</a:t>
            </a:r>
            <a:endParaRPr lang="en-US" sz="1250"/>
          </a:p>
        </p:txBody>
      </p:sp>
      <p:sp>
        <p:nvSpPr>
          <p:cNvPr id="15" name="Shape 12"/>
          <p:cNvSpPr/>
          <p:nvPr/>
        </p:nvSpPr>
        <p:spPr>
          <a:xfrm>
            <a:off x="7543800" y="2340864"/>
            <a:ext cx="1143000" cy="457200"/>
          </a:xfrm>
          <a:prstGeom prst="roundRect">
            <a:avLst>
              <a:gd name="adj" fmla="val 8000"/>
            </a:avLst>
          </a:prstGeom>
          <a:solidFill>
            <a:srgbClr val="C5DCEE"/>
          </a:solidFill>
          <a:ln w="12700">
            <a:solidFill>
              <a:srgbClr val="0750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543800" y="2340864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30</a:t>
            </a:r>
            <a:endParaRPr lang="en-US" sz="1200"/>
          </a:p>
        </p:txBody>
      </p:sp>
      <p:sp>
        <p:nvSpPr>
          <p:cNvPr id="17" name="Shape 14"/>
          <p:cNvSpPr/>
          <p:nvPr/>
        </p:nvSpPr>
        <p:spPr>
          <a:xfrm>
            <a:off x="457200" y="2871216"/>
            <a:ext cx="69494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B7C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94360" y="2871216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Agent Design, Orchestration &amp; Ops</a:t>
            </a:r>
            <a:endParaRPr lang="en-US" sz="1250"/>
          </a:p>
        </p:txBody>
      </p:sp>
      <p:sp>
        <p:nvSpPr>
          <p:cNvPr id="19" name="Shape 16"/>
          <p:cNvSpPr/>
          <p:nvPr/>
        </p:nvSpPr>
        <p:spPr>
          <a:xfrm>
            <a:off x="7543800" y="2871216"/>
            <a:ext cx="1143000" cy="457200"/>
          </a:xfrm>
          <a:prstGeom prst="roundRect">
            <a:avLst>
              <a:gd name="adj" fmla="val 8000"/>
            </a:avLst>
          </a:prstGeom>
          <a:solidFill>
            <a:srgbClr val="C5DCEE"/>
          </a:solidFill>
          <a:ln w="12700">
            <a:solidFill>
              <a:srgbClr val="0750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543800" y="2871216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30</a:t>
            </a:r>
            <a:endParaRPr lang="en-US" sz="1200"/>
          </a:p>
        </p:txBody>
      </p:sp>
      <p:sp>
        <p:nvSpPr>
          <p:cNvPr id="21" name="Shape 18"/>
          <p:cNvSpPr/>
          <p:nvPr/>
        </p:nvSpPr>
        <p:spPr>
          <a:xfrm>
            <a:off x="457200" y="3401568"/>
            <a:ext cx="6949440" cy="457200"/>
          </a:xfrm>
          <a:prstGeom prst="roundRect">
            <a:avLst>
              <a:gd name="adj" fmla="val 8000"/>
            </a:avLst>
          </a:prstGeom>
          <a:solidFill>
            <a:srgbClr val="DFE7ED"/>
          </a:solidFill>
          <a:ln w="6350">
            <a:solidFill>
              <a:srgbClr val="B7C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594360" y="3401568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AI Tool Integration &amp; Extensibility</a:t>
            </a:r>
            <a:endParaRPr lang="en-US" sz="1250"/>
          </a:p>
        </p:txBody>
      </p:sp>
      <p:sp>
        <p:nvSpPr>
          <p:cNvPr id="23" name="Shape 20"/>
          <p:cNvSpPr/>
          <p:nvPr/>
        </p:nvSpPr>
        <p:spPr>
          <a:xfrm>
            <a:off x="7543800" y="3401568"/>
            <a:ext cx="1143000" cy="457200"/>
          </a:xfrm>
          <a:prstGeom prst="roundRect">
            <a:avLst>
              <a:gd name="adj" fmla="val 8000"/>
            </a:avLst>
          </a:prstGeom>
          <a:solidFill>
            <a:srgbClr val="C5DCEE"/>
          </a:solidFill>
          <a:ln w="12700">
            <a:solidFill>
              <a:srgbClr val="0750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7543800" y="3401568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demo'd</a:t>
            </a:r>
            <a:endParaRPr lang="en-US" sz="1200"/>
          </a:p>
        </p:txBody>
      </p:sp>
      <p:sp>
        <p:nvSpPr>
          <p:cNvPr id="25" name="Shape 22"/>
          <p:cNvSpPr/>
          <p:nvPr/>
        </p:nvSpPr>
        <p:spPr>
          <a:xfrm>
            <a:off x="457200" y="3977640"/>
            <a:ext cx="8229600" cy="548640"/>
          </a:xfrm>
          <a:prstGeom prst="roundRect">
            <a:avLst>
              <a:gd name="adj" fmla="val 10000"/>
            </a:avLst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40080" y="39776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total:  103 / 150      Clear = 70+     (I demonstrated 4 of 5 topics)</a:t>
            </a:r>
            <a:endParaRPr lang="en-US"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&amp; Key Takeaway</a:t>
            </a:r>
            <a:endParaRPr lang="en-US" sz="26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92608"/>
            <a:ext cx="914400" cy="2747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097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these sentences</a:t>
            </a:r>
            <a:endParaRPr lang="en-US" sz="120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10000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66928" y="1371600"/>
            <a:ext cx="80101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"Before this program, I thought AI was a faster way to write code — useful for boilerplate, risky for anything a client depends on."</a:t>
            </a:r>
            <a:endParaRPr lang="en-US" sz="1100"/>
          </a:p>
        </p:txBody>
      </p:sp>
      <p:sp>
        <p:nvSpPr>
          <p:cNvPr id="7" name="Shape 4"/>
          <p:cNvSpPr/>
          <p:nvPr/>
        </p:nvSpPr>
        <p:spPr>
          <a:xfrm>
            <a:off x="457200" y="1920240"/>
            <a:ext cx="8229600" cy="457200"/>
          </a:xfrm>
          <a:prstGeom prst="roundRect">
            <a:avLst>
              <a:gd name="adj" fmla="val 10000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66928" y="1920240"/>
            <a:ext cx="80101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"Now I know it is only as correct as the documentation you ground it in — and that the real engineering is building the checks that prove it."</a:t>
            </a:r>
            <a:endParaRPr lang="en-US" sz="1100"/>
          </a:p>
        </p:txBody>
      </p:sp>
      <p:sp>
        <p:nvSpPr>
          <p:cNvPr id="9" name="Text 6"/>
          <p:cNvSpPr/>
          <p:nvPr/>
        </p:nvSpPr>
        <p:spPr>
          <a:xfrm>
            <a:off x="457200" y="26060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biggest learning</a:t>
            </a:r>
            <a:endParaRPr lang="en-US" sz="1200"/>
          </a:p>
        </p:txBody>
      </p:sp>
      <p:sp>
        <p:nvSpPr>
          <p:cNvPr id="10" name="Shape 7"/>
          <p:cNvSpPr/>
          <p:nvPr/>
        </p:nvSpPr>
        <p:spPr>
          <a:xfrm>
            <a:off x="457200" y="2880360"/>
            <a:ext cx="8229600" cy="457200"/>
          </a:xfrm>
          <a:prstGeom prst="roundRect">
            <a:avLst>
              <a:gd name="adj" fmla="val 10000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66928" y="2880360"/>
            <a:ext cx="80101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judge flagged 5 invented values in my backlog. Four were contradictions in the governing documents I had written myself. Evaluate the corpus, not just the model.</a:t>
            </a:r>
            <a:endParaRPr lang="en-US" sz="1100"/>
          </a:p>
        </p:txBody>
      </p:sp>
      <p:sp>
        <p:nvSpPr>
          <p:cNvPr id="12" name="Text 9"/>
          <p:cNvSpPr/>
          <p:nvPr/>
        </p:nvSpPr>
        <p:spPr>
          <a:xfrm>
            <a:off x="457200" y="352044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using AI at work</a:t>
            </a:r>
            <a:endParaRPr lang="en-US" sz="1200"/>
          </a:p>
        </p:txBody>
      </p:sp>
      <p:sp>
        <p:nvSpPr>
          <p:cNvPr id="13" name="Text 10"/>
          <p:cNvSpPr/>
          <p:nvPr/>
        </p:nvSpPr>
        <p:spPr>
          <a:xfrm>
            <a:off x="457200" y="37947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</a:t>
            </a:r>
            <a:r>
              <a:rPr lang="en-US" sz="13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 /10        </a:t>
            </a:r>
            <a:r>
              <a:rPr lang="en-US" sz="1300" b="1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After: </a:t>
            </a:r>
            <a:r>
              <a:rPr lang="en-US" sz="13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 /10</a:t>
            </a:r>
            <a:endParaRPr lang="en-US" sz="1300"/>
          </a:p>
        </p:txBody>
      </p:sp>
      <p:sp>
        <p:nvSpPr>
          <p:cNvPr id="14" name="Text 11"/>
          <p:cNvSpPr/>
          <p:nvPr/>
        </p:nvSpPr>
        <p:spPr>
          <a:xfrm>
            <a:off x="4709160" y="352044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tip for the next cohort</a:t>
            </a:r>
            <a:endParaRPr lang="en-US" sz="1200"/>
          </a:p>
        </p:txBody>
      </p:sp>
      <p:sp>
        <p:nvSpPr>
          <p:cNvPr id="15" name="Shape 12"/>
          <p:cNvSpPr/>
          <p:nvPr/>
        </p:nvSpPr>
        <p:spPr>
          <a:xfrm>
            <a:off x="4709160" y="3794760"/>
            <a:ext cx="3977640" cy="457200"/>
          </a:xfrm>
          <a:prstGeom prst="roundRect">
            <a:avLst>
              <a:gd name="adj" fmla="val 10000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4818888" y="3794760"/>
            <a:ext cx="3758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AI prove its tests can fail. A generated test that only ever passes tells you nothing.</a:t>
            </a:r>
            <a:endParaRPr lang="en-US" sz="1100"/>
          </a:p>
        </p:txBody>
      </p:sp>
      <p:sp>
        <p:nvSpPr>
          <p:cNvPr id="17" name="Text 14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Perficient Global AI First Academy</a:t>
            </a:r>
            <a:endParaRPr lang="en-US" sz="1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50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 Validation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>
                <a:solidFill>
                  <a:srgbClr val="71D8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use only</a:t>
            </a:r>
            <a:endParaRPr lang="en-US" sz="130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365760"/>
            <a:ext cx="1097280" cy="25261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325880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Spec-Driven Development</a:t>
            </a:r>
            <a:endParaRPr lang="en-US" sz="1250"/>
          </a:p>
        </p:txBody>
      </p:sp>
      <p:sp>
        <p:nvSpPr>
          <p:cNvPr id="6" name="Shape 3"/>
          <p:cNvSpPr/>
          <p:nvPr/>
        </p:nvSpPr>
        <p:spPr>
          <a:xfrm>
            <a:off x="7543800" y="1325880"/>
            <a:ext cx="114300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543800" y="1325880"/>
            <a:ext cx="1143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 / 30</a:t>
            </a:r>
            <a:endParaRPr lang="en-US" sz="1100"/>
          </a:p>
        </p:txBody>
      </p:sp>
      <p:sp>
        <p:nvSpPr>
          <p:cNvPr id="8" name="Text 5"/>
          <p:cNvSpPr/>
          <p:nvPr/>
        </p:nvSpPr>
        <p:spPr>
          <a:xfrm>
            <a:off x="457200" y="1783080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AI-Powered Development</a:t>
            </a:r>
            <a:endParaRPr lang="en-US" sz="1250"/>
          </a:p>
        </p:txBody>
      </p:sp>
      <p:sp>
        <p:nvSpPr>
          <p:cNvPr id="9" name="Shape 6"/>
          <p:cNvSpPr/>
          <p:nvPr/>
        </p:nvSpPr>
        <p:spPr>
          <a:xfrm>
            <a:off x="7543800" y="1783080"/>
            <a:ext cx="114300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543800" y="1783080"/>
            <a:ext cx="1143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 / 30</a:t>
            </a:r>
            <a:endParaRPr lang="en-US" sz="1100"/>
          </a:p>
        </p:txBody>
      </p:sp>
      <p:sp>
        <p:nvSpPr>
          <p:cNvPr id="11" name="Text 8"/>
          <p:cNvSpPr/>
          <p:nvPr/>
        </p:nvSpPr>
        <p:spPr>
          <a:xfrm>
            <a:off x="457200" y="2240280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LLM Evaluation &amp; Interpretability</a:t>
            </a:r>
            <a:endParaRPr lang="en-US" sz="1250"/>
          </a:p>
        </p:txBody>
      </p:sp>
      <p:sp>
        <p:nvSpPr>
          <p:cNvPr id="12" name="Shape 9"/>
          <p:cNvSpPr/>
          <p:nvPr/>
        </p:nvSpPr>
        <p:spPr>
          <a:xfrm>
            <a:off x="7543800" y="2240280"/>
            <a:ext cx="114300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543800" y="2240280"/>
            <a:ext cx="1143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 / 30</a:t>
            </a:r>
            <a:endParaRPr lang="en-US" sz="1100"/>
          </a:p>
        </p:txBody>
      </p:sp>
      <p:sp>
        <p:nvSpPr>
          <p:cNvPr id="14" name="Text 11"/>
          <p:cNvSpPr/>
          <p:nvPr/>
        </p:nvSpPr>
        <p:spPr>
          <a:xfrm>
            <a:off x="457200" y="2697480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Agent Design, Orchestration &amp; Ops</a:t>
            </a:r>
            <a:endParaRPr lang="en-US" sz="1250"/>
          </a:p>
        </p:txBody>
      </p:sp>
      <p:sp>
        <p:nvSpPr>
          <p:cNvPr id="15" name="Shape 12"/>
          <p:cNvSpPr/>
          <p:nvPr/>
        </p:nvSpPr>
        <p:spPr>
          <a:xfrm>
            <a:off x="7543800" y="2697480"/>
            <a:ext cx="114300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543800" y="2697480"/>
            <a:ext cx="1143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 / 30</a:t>
            </a:r>
            <a:endParaRPr lang="en-US" sz="1100"/>
          </a:p>
        </p:txBody>
      </p:sp>
      <p:sp>
        <p:nvSpPr>
          <p:cNvPr id="17" name="Text 14"/>
          <p:cNvSpPr/>
          <p:nvPr/>
        </p:nvSpPr>
        <p:spPr>
          <a:xfrm>
            <a:off x="457200" y="3154680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AI Tool Integration &amp; Extensibility</a:t>
            </a:r>
            <a:endParaRPr lang="en-US" sz="1250"/>
          </a:p>
        </p:txBody>
      </p:sp>
      <p:sp>
        <p:nvSpPr>
          <p:cNvPr id="18" name="Shape 15"/>
          <p:cNvSpPr/>
          <p:nvPr/>
        </p:nvSpPr>
        <p:spPr>
          <a:xfrm>
            <a:off x="7543800" y="3154680"/>
            <a:ext cx="114300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7543800" y="3154680"/>
            <a:ext cx="1143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 / 30</a:t>
            </a:r>
            <a:endParaRPr lang="en-US" sz="1100"/>
          </a:p>
        </p:txBody>
      </p:sp>
      <p:sp>
        <p:nvSpPr>
          <p:cNvPr id="20" name="Text 17"/>
          <p:cNvSpPr/>
          <p:nvPr/>
        </p:nvSpPr>
        <p:spPr>
          <a:xfrm>
            <a:off x="457200" y="363016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total:  ____ / 150</a:t>
            </a:r>
            <a:r>
              <a:rPr lang="en-US" sz="1200">
                <a:solidFill>
                  <a:srgbClr val="71D8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Clear = 70+</a:t>
            </a:r>
            <a:endParaRPr lang="en-US" sz="1500"/>
          </a:p>
        </p:txBody>
      </p:sp>
      <p:sp>
        <p:nvSpPr>
          <p:cNvPr id="21" name="Shape 18"/>
          <p:cNvSpPr/>
          <p:nvPr/>
        </p:nvSpPr>
        <p:spPr>
          <a:xfrm>
            <a:off x="457200" y="411480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5400">
            <a:solidFill>
              <a:srgbClr val="0750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457200" y="4114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Yes, Agree — certify</a:t>
            </a:r>
            <a:endParaRPr lang="en-US" sz="1200"/>
          </a:p>
        </p:txBody>
      </p:sp>
      <p:sp>
        <p:nvSpPr>
          <p:cNvPr id="23" name="Shape 20"/>
          <p:cNvSpPr/>
          <p:nvPr/>
        </p:nvSpPr>
        <p:spPr>
          <a:xfrm>
            <a:off x="3291840" y="411480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5400">
            <a:solidFill>
              <a:srgbClr val="FE3A3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3291840" y="4114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E3A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No, Do not certify</a:t>
            </a:r>
            <a:endParaRPr lang="en-US" sz="1200"/>
          </a:p>
        </p:txBody>
      </p:sp>
      <p:sp>
        <p:nvSpPr>
          <p:cNvPr id="25" name="Text 22"/>
          <p:cNvSpPr/>
          <p:nvPr/>
        </p:nvSpPr>
        <p:spPr>
          <a:xfrm>
            <a:off x="6126480" y="4178808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signature: </a:t>
            </a:r>
            <a:r>
              <a:rPr lang="en-US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     </a:t>
            </a:r>
            <a:r>
              <a:rPr lang="en-US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</a:t>
            </a:r>
            <a:r>
              <a:rPr lang="en-US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</a:t>
            </a:r>
            <a:endParaRPr lang="en-US" sz="1050"/>
          </a:p>
        </p:txBody>
      </p:sp>
      <p:sp>
        <p:nvSpPr>
          <p:cNvPr id="26" name="Text 23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71D8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is issued only on "Yes, Agree". A score ≥ 70 is a recommendation, not automatic certification.</a:t>
            </a:r>
            <a:endParaRPr lang="en-US" sz="9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78BDE5FBDD49645B4C97074EE65F842" ma:contentTypeVersion="12" ma:contentTypeDescription="Create a new document." ma:contentTypeScope="" ma:versionID="5312b329c996433ceb2b53c55abbd94c">
  <xsd:schema xmlns:xsd="http://www.w3.org/2001/XMLSchema" xmlns:xs="http://www.w3.org/2001/XMLSchema" xmlns:p="http://schemas.microsoft.com/office/2006/metadata/properties" xmlns:ns2="726f94d6-fa4c-4578-9923-387e8e08487a" xmlns:ns3="7a392144-d9c7-4700-81e3-5d9ccc7560d2" targetNamespace="http://schemas.microsoft.com/office/2006/metadata/properties" ma:root="true" ma:fieldsID="4c00a87271a249586203d6baa24a7578" ns2:_="" ns3:_="">
    <xsd:import namespace="726f94d6-fa4c-4578-9923-387e8e08487a"/>
    <xsd:import namespace="7a392144-d9c7-4700-81e3-5d9ccc7560d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Fecha_x002f_hor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26f94d6-fa4c-4578-9923-387e8e08487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e398e266-1b5a-423d-aa71-fcb68a1b755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Fecha_x002f_hora" ma:index="19" nillable="true" ma:displayName="Fecha/hora" ma:format="DateTime" ma:internalName="Fecha_x002f_hora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a392144-d9c7-4700-81e3-5d9ccc7560d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a24c2efa-4133-4b24-8c74-08d4563e1292}" ma:internalName="TaxCatchAll" ma:showField="CatchAllData" ma:web="7a392144-d9c7-4700-81e3-5d9ccc7560d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26f94d6-fa4c-4578-9923-387e8e08487a">
      <Terms xmlns="http://schemas.microsoft.com/office/infopath/2007/PartnerControls"/>
    </lcf76f155ced4ddcb4097134ff3c332f>
    <TaxCatchAll xmlns="7a392144-d9c7-4700-81e3-5d9ccc7560d2" xsi:nil="true"/>
    <Fecha_x002f_hora xmlns="726f94d6-fa4c-4578-9923-387e8e08487a" xsi:nil="true"/>
  </documentManagement>
</p:properties>
</file>

<file path=customXml/itemProps1.xml><?xml version="1.0" encoding="utf-8"?>
<ds:datastoreItem xmlns:ds="http://schemas.openxmlformats.org/officeDocument/2006/customXml" ds:itemID="{22674E81-17EB-43AD-A4DC-3DD0F2DF9E2A}">
  <ds:schemaRefs>
    <ds:schemaRef ds:uri="726f94d6-fa4c-4578-9923-387e8e08487a"/>
    <ds:schemaRef ds:uri="7a392144-d9c7-4700-81e3-5d9ccc7560d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D68DD810-7AED-43B6-BB17-F254283372F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C7FDC5A-70C0-4588-82CA-E8B6F6B3A12D}">
  <ds:schemaRefs>
    <ds:schemaRef ds:uri="http://schemas.openxmlformats.org/package/2006/metadata/core-properties"/>
    <ds:schemaRef ds:uri="http://schemas.microsoft.com/office/2006/metadata/properties"/>
    <ds:schemaRef ds:uri="http://purl.org/dc/terms/"/>
    <ds:schemaRef ds:uri="http://purl.org/dc/dcmitype/"/>
    <ds:schemaRef ds:uri="http://purl.org/dc/elements/1.1/"/>
    <ds:schemaRef ds:uri="http://www.w3.org/XML/1998/namespace"/>
    <ds:schemaRef ds:uri="http://schemas.microsoft.com/office/2006/documentManagement/types"/>
    <ds:schemaRef ds:uri="http://schemas.microsoft.com/office/infopath/2007/PartnerControls"/>
    <ds:schemaRef ds:uri="7a392144-d9c7-4700-81e3-5d9ccc7560d2"/>
    <ds:schemaRef ds:uri="726f94d6-fa4c-4578-9923-387e8e08487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1185</Words>
  <Application>Microsoft Office PowerPoint</Application>
  <PresentationFormat>On-screen Show (16:9)</PresentationFormat>
  <Paragraphs>206</Paragraphs>
  <Slides>13</Slides>
  <Notes>13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Gonzalo Munoz</cp:lastModifiedBy>
  <cp:revision>2</cp:revision>
  <dcterms:created xsi:type="dcterms:W3CDTF">2026-07-11T21:26:25Z</dcterms:created>
  <dcterms:modified xsi:type="dcterms:W3CDTF">2026-09-07T13:24:51Z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0x010100178BDE5FBDD49645B4C97074EE65F842</vt:lpwstr>
  </property>
  <property fmtid="{D5CDD505-2E9C-101B-9397-08002B2CF9AE}" pid="3" name="MediaServiceImageTags">
    <vt:lpwstr/>
  </property>
</Properties>
</file>