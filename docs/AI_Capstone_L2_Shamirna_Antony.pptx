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3900BE-E093-A2C5-E3C7-969F2E40EA55}" v="16" dt="2026-08-06T22:20:32.978"/>
    <p1510:client id="{F429A452-885F-DF8F-A9B2-74C2246A3D9F}" v="12" dt="2026-08-06T17:53:52.1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0953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hyperlink" Target="https://github.com/shamirna-dev/dbt_capstone/tree/capstone_L2" TargetMode="External"/><Relationship Id="rId5" Type="http://schemas.openxmlformats.org/officeDocument/2006/relationships/hyperlink" Target="https://github.com/shamirna-dev/dbt_capstone/blob/capstone_L2/docs/CAPSTONE.md" TargetMode="External"/><Relationship Id="rId6" Type="http://schemas.openxmlformats.org/officeDocument/2006/relationships/hyperlink" Target="https://github.com/shamirna-dev/dbt_capstone/blob/capstone_L2/sql/05_agent_framework.sql" TargetMode="External"/><Relationship Id="rId7" Type="http://schemas.openxmlformats.org/officeDocument/2006/relationships/hyperlink" Target="https://github.com/shamirna-dev/dbt_capstone/blob/capstone_L2/app/streamlit_app.py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50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1737360" cy="3999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2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</a:t>
            </a:r>
            <a:endParaRPr lang="en-US" sz="440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71D8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— Agentic SDLC</a:t>
            </a:r>
            <a:endParaRPr lang="en-US" sz="220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Submission Template · Option 4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57200" y="329184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71D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3291840"/>
            <a:ext cx="374904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00" b="1" dirty="0">
                <a:solidFill>
                  <a:srgbClr val="075056"/>
                </a:solidFill>
                <a:latin typeface="Calibri"/>
                <a:ea typeface="Calibri"/>
                <a:cs typeface="Calibri"/>
              </a:rPr>
              <a:t>Option 4 · AI Case Study</a:t>
            </a:r>
            <a:endParaRPr lang="en-US" sz="1400" dirty="0">
              <a:solidFill>
                <a:srgbClr val="025F6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i="1">
                <a:solidFill>
                  <a:srgbClr val="71D8C5"/>
                </a:solidFill>
                <a:latin typeface="Calibri"/>
                <a:ea typeface="Calibri"/>
                <a:cs typeface="Calibri"/>
              </a:rPr>
              <a:t>Open Choice — self-defined problem: AI-accelerated data engineering SDLC / STLC</a:t>
            </a:r>
            <a:endParaRPr lang="en-US" sz="1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Name: Shamirna Antony                    Date: 07 Sep 2026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1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Perficient Global AI First Academy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Project Overview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024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10972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4 — AI Case Study</a:t>
            </a:r>
            <a:endParaRPr lang="en-US" sz="1300"/>
          </a:p>
        </p:txBody>
      </p:sp>
      <p:sp>
        <p:nvSpPr>
          <p:cNvPr id="6" name="Text 3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&amp; domain</a:t>
            </a:r>
            <a:endParaRPr lang="en-US" sz="1200"/>
          </a:p>
        </p:txBody>
      </p:sp>
      <p:sp>
        <p:nvSpPr>
          <p:cNvPr id="7" name="Shape 4"/>
          <p:cNvSpPr/>
          <p:nvPr/>
        </p:nvSpPr>
        <p:spPr>
          <a:xfrm>
            <a:off x="457200" y="1947672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66928" y="1947672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Choice. Multi-ERP accounts-payable consolidation on Snowflake — onboarding a 4th ERP (Infor Baan IV) into a governed medallion pipeline.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457200" y="2532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· AI solution · outcomes</a:t>
            </a:r>
            <a:endParaRPr lang="en-US" sz="1200"/>
          </a:p>
        </p:txBody>
      </p:sp>
      <p:sp>
        <p:nvSpPr>
          <p:cNvPr id="10" name="Shape 7"/>
          <p:cNvSpPr/>
          <p:nvPr/>
        </p:nvSpPr>
        <p:spPr>
          <a:xfrm>
            <a:off x="457200" y="278892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66928" y="2788920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rules live across 6 documents. Five RAG-grounded agents turn a prose request into cited user stories, compile-verified SQL, 28 executable tests and triaged defects — behind a human approval gate.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457200" y="3374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outcomes</a:t>
            </a:r>
            <a:endParaRPr lang="en-US" sz="1200"/>
          </a:p>
        </p:txBody>
      </p:sp>
      <p:sp>
        <p:nvSpPr>
          <p:cNvPr id="13" name="Shape 10"/>
          <p:cNvSpPr/>
          <p:nvPr/>
        </p:nvSpPr>
        <p:spPr>
          <a:xfrm>
            <a:off x="457200" y="3630168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66928" y="3630168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 injected defects caught · 5/5 governance controls upheld · 163/163 citations resolve · 28/28 tests compile · 9.1 min agent time, $0.63 est.</a:t>
            </a:r>
            <a:endParaRPr lang="en-US" sz="1100"/>
          </a:p>
        </p:txBody>
      </p:sp>
      <p:sp>
        <p:nvSpPr>
          <p:cNvPr id="15" name="Shape 12"/>
          <p:cNvSpPr/>
          <p:nvPr/>
        </p:nvSpPr>
        <p:spPr>
          <a:xfrm>
            <a:off x="4709160" y="109728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024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800600" y="10972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— measured on-account</a:t>
            </a:r>
            <a:endParaRPr lang="en-US" sz="1300"/>
          </a:p>
        </p:txBody>
      </p:sp>
      <p:sp>
        <p:nvSpPr>
          <p:cNvPr id="17" name="Text 14"/>
          <p:cNvSpPr/>
          <p:nvPr/>
        </p:nvSpPr>
        <p:spPr>
          <a:xfrm>
            <a:off x="470916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proven capable of failing</a:t>
            </a:r>
            <a:endParaRPr lang="en-US" sz="1200"/>
          </a:p>
        </p:txBody>
      </p:sp>
      <p:sp>
        <p:nvSpPr>
          <p:cNvPr id="18" name="Shape 15"/>
          <p:cNvSpPr/>
          <p:nvPr/>
        </p:nvSpPr>
        <p:spPr>
          <a:xfrm>
            <a:off x="4709160" y="1947672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18888" y="1947672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defect classes injected into a sandbox copy of the conformed layer. 7/7 caught, every one by the expected taxonomy category.</a:t>
            </a:r>
            <a:endParaRPr lang="en-US" sz="1100"/>
          </a:p>
        </p:txBody>
      </p:sp>
      <p:sp>
        <p:nvSpPr>
          <p:cNvPr id="20" name="Text 17"/>
          <p:cNvSpPr/>
          <p:nvPr/>
        </p:nvSpPr>
        <p:spPr>
          <a:xfrm>
            <a:off x="4709160" y="2532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enforced, not assumed</a:t>
            </a:r>
            <a:endParaRPr lang="en-US" sz="1200"/>
          </a:p>
        </p:txBody>
      </p:sp>
      <p:sp>
        <p:nvSpPr>
          <p:cNvPr id="21" name="Shape 18"/>
          <p:cNvSpPr/>
          <p:nvPr/>
        </p:nvSpPr>
        <p:spPr>
          <a:xfrm>
            <a:off x="4709160" y="278892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18888" y="2788920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source the PRD blocks pending a DPA was refused by both the requirements and build agents. Zero stories, zero code, zero rows.</a:t>
            </a:r>
            <a:endParaRPr lang="en-US" sz="1100"/>
          </a:p>
        </p:txBody>
      </p:sp>
      <p:sp>
        <p:nvSpPr>
          <p:cNvPr id="23" name="Text 20"/>
          <p:cNvSpPr/>
          <p:nvPr/>
        </p:nvSpPr>
        <p:spPr>
          <a:xfrm>
            <a:off x="4709160" y="3374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</a:t>
            </a:r>
            <a:endParaRPr lang="en-US" sz="1200"/>
          </a:p>
        </p:txBody>
      </p:sp>
      <p:sp>
        <p:nvSpPr>
          <p:cNvPr id="24" name="Shape 21"/>
          <p:cNvSpPr/>
          <p:nvPr/>
        </p:nvSpPr>
        <p:spPr>
          <a:xfrm>
            <a:off x="4709160" y="3630168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818888" y="3630168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artifact records the governing chunks it relied on. 163/163 cited ids resolve — a deterministic check, not an opinion.</a:t>
            </a:r>
            <a:endParaRPr lang="en-US" sz="1100"/>
          </a:p>
        </p:txBody>
      </p:sp>
      <p:sp>
        <p:nvSpPr>
          <p:cNvPr id="26" name="Text 2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column is the Option 4 submission; right column summarises the evidence behind it.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AI Approach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— one sentence: the repeatable outcome you wanted AI to deliver</a:t>
            </a:r>
            <a:endParaRPr lang="en-US" sz="120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66928" y="1371600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prose data requirement into a governed, tested, incrementally-refreshing Snowflake pipeline in one session — every artifact traceable to the clause that authorised it.</a:t>
            </a:r>
            <a:endParaRPr lang="en-US" sz="1100"/>
          </a:p>
        </p:txBody>
      </p:sp>
      <p:sp>
        <p:nvSpPr>
          <p:cNvPr id="7" name="Shape 4"/>
          <p:cNvSpPr/>
          <p:nvPr/>
        </p:nvSpPr>
        <p:spPr>
          <a:xfrm>
            <a:off x="457200" y="2057400"/>
            <a:ext cx="1572768" cy="2194560"/>
          </a:xfrm>
          <a:prstGeom prst="roundRect">
            <a:avLst>
              <a:gd name="adj" fmla="val 3488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42416" y="2194560"/>
            <a:ext cx="402336" cy="40233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42416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/>
          </a:p>
        </p:txBody>
      </p:sp>
      <p:sp>
        <p:nvSpPr>
          <p:cNvPr id="10" name="Text 7"/>
          <p:cNvSpPr/>
          <p:nvPr/>
        </p:nvSpPr>
        <p:spPr>
          <a:xfrm>
            <a:off x="512064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Ground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530352" y="3017520"/>
            <a:ext cx="14264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governing docs → chunked → Cortex Search index. Built with Cortex Code + snow CLI.</a:t>
            </a:r>
            <a:endParaRPr lang="en-US" sz="950"/>
          </a:p>
        </p:txBody>
      </p:sp>
      <p:sp>
        <p:nvSpPr>
          <p:cNvPr id="12" name="Shape 9"/>
          <p:cNvSpPr/>
          <p:nvPr/>
        </p:nvSpPr>
        <p:spPr>
          <a:xfrm>
            <a:off x="2148840" y="2057400"/>
            <a:ext cx="1572768" cy="2194560"/>
          </a:xfrm>
          <a:prstGeom prst="roundRect">
            <a:avLst>
              <a:gd name="adj" fmla="val 3488"/>
            </a:avLst>
          </a:prstGeom>
          <a:solidFill>
            <a:srgbClr val="C5D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734056" y="2194560"/>
            <a:ext cx="402336" cy="40233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734056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/>
          </a:p>
        </p:txBody>
      </p:sp>
      <p:sp>
        <p:nvSpPr>
          <p:cNvPr id="15" name="Text 12"/>
          <p:cNvSpPr/>
          <p:nvPr/>
        </p:nvSpPr>
        <p:spPr>
          <a:xfrm>
            <a:off x="2203704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Specify</a:t>
            </a:r>
            <a:endParaRPr lang="en-US" sz="1100"/>
          </a:p>
        </p:txBody>
      </p:sp>
      <p:sp>
        <p:nvSpPr>
          <p:cNvPr id="16" name="Text 13"/>
          <p:cNvSpPr/>
          <p:nvPr/>
        </p:nvSpPr>
        <p:spPr>
          <a:xfrm>
            <a:off x="2221992" y="3017520"/>
            <a:ext cx="14264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agent → cited user stories. Refuses work the docs prohibit.</a:t>
            </a:r>
            <a:endParaRPr lang="en-US" sz="950"/>
          </a:p>
        </p:txBody>
      </p:sp>
      <p:sp>
        <p:nvSpPr>
          <p:cNvPr id="17" name="Shape 14"/>
          <p:cNvSpPr/>
          <p:nvPr/>
        </p:nvSpPr>
        <p:spPr>
          <a:xfrm>
            <a:off x="3840480" y="2057400"/>
            <a:ext cx="1572768" cy="2194560"/>
          </a:xfrm>
          <a:prstGeom prst="roundRect">
            <a:avLst>
              <a:gd name="adj" fmla="val 3488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425696" y="2194560"/>
            <a:ext cx="402336" cy="40233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425696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/>
          </a:p>
        </p:txBody>
      </p:sp>
      <p:sp>
        <p:nvSpPr>
          <p:cNvPr id="20" name="Text 17"/>
          <p:cNvSpPr/>
          <p:nvPr/>
        </p:nvSpPr>
        <p:spPr>
          <a:xfrm>
            <a:off x="3895344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Build</a:t>
            </a:r>
            <a:endParaRPr lang="en-US" sz="1100"/>
          </a:p>
        </p:txBody>
      </p:sp>
      <p:sp>
        <p:nvSpPr>
          <p:cNvPr id="21" name="Text 18"/>
          <p:cNvSpPr/>
          <p:nvPr/>
        </p:nvSpPr>
        <p:spPr>
          <a:xfrm>
            <a:off x="3913632" y="3017520"/>
            <a:ext cx="14264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agent → conformance SQL, EXPLAIN-verified. Human approval gate.</a:t>
            </a:r>
            <a:endParaRPr lang="en-US" sz="950"/>
          </a:p>
        </p:txBody>
      </p:sp>
      <p:sp>
        <p:nvSpPr>
          <p:cNvPr id="22" name="Shape 19"/>
          <p:cNvSpPr/>
          <p:nvPr/>
        </p:nvSpPr>
        <p:spPr>
          <a:xfrm>
            <a:off x="5532120" y="2057400"/>
            <a:ext cx="1572768" cy="2194560"/>
          </a:xfrm>
          <a:prstGeom prst="roundRect">
            <a:avLst>
              <a:gd name="adj" fmla="val 3488"/>
            </a:avLst>
          </a:prstGeom>
          <a:solidFill>
            <a:srgbClr val="C5D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117336" y="2194560"/>
            <a:ext cx="402336" cy="40233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117336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/>
          </a:p>
        </p:txBody>
      </p:sp>
      <p:sp>
        <p:nvSpPr>
          <p:cNvPr id="25" name="Text 22"/>
          <p:cNvSpPr/>
          <p:nvPr/>
        </p:nvSpPr>
        <p:spPr>
          <a:xfrm>
            <a:off x="5586984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Verify</a:t>
            </a:r>
            <a:endParaRPr lang="en-US" sz="1100"/>
          </a:p>
        </p:txBody>
      </p:sp>
      <p:sp>
        <p:nvSpPr>
          <p:cNvPr id="26" name="Text 23"/>
          <p:cNvSpPr/>
          <p:nvPr/>
        </p:nvSpPr>
        <p:spPr>
          <a:xfrm>
            <a:off x="5605272" y="3017520"/>
            <a:ext cx="14264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agent → 28 assertions. 7 defects injected to prove they fail.</a:t>
            </a:r>
            <a:endParaRPr lang="en-US" sz="950"/>
          </a:p>
        </p:txBody>
      </p:sp>
      <p:sp>
        <p:nvSpPr>
          <p:cNvPr id="27" name="Shape 24"/>
          <p:cNvSpPr/>
          <p:nvPr/>
        </p:nvSpPr>
        <p:spPr>
          <a:xfrm>
            <a:off x="7223760" y="2057400"/>
            <a:ext cx="1572768" cy="2194560"/>
          </a:xfrm>
          <a:prstGeom prst="roundRect">
            <a:avLst>
              <a:gd name="adj" fmla="val 3488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7808976" y="2194560"/>
            <a:ext cx="402336" cy="40233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808976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/>
          </a:p>
        </p:txBody>
      </p:sp>
      <p:sp>
        <p:nvSpPr>
          <p:cNvPr id="30" name="Text 27"/>
          <p:cNvSpPr/>
          <p:nvPr/>
        </p:nvSpPr>
        <p:spPr>
          <a:xfrm>
            <a:off x="7278624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Operate</a:t>
            </a:r>
            <a:endParaRPr lang="en-US" sz="1100"/>
          </a:p>
        </p:txBody>
      </p:sp>
      <p:sp>
        <p:nvSpPr>
          <p:cNvPr id="31" name="Text 28"/>
          <p:cNvSpPr/>
          <p:nvPr/>
        </p:nvSpPr>
        <p:spPr>
          <a:xfrm>
            <a:off x="7296912" y="3017520"/>
            <a:ext cx="14264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agent, run log, dashboard. n8n gate + Snowflake Task DAG.</a:t>
            </a:r>
            <a:endParaRPr lang="en-US" sz="950"/>
          </a:p>
        </p:txBody>
      </p:sp>
      <p:sp>
        <p:nvSpPr>
          <p:cNvPr id="32" name="Text 29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steps are Snowflake stored procedures, so either orchestrator calls the same code.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→ After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5A6B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— The Manual Way</a:t>
            </a:r>
            <a:endParaRPr lang="en-US" sz="140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3794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6 governing documents, then hand-write per-source mappings, tests and test data</a:t>
            </a:r>
            <a:endParaRPr lang="en-US" sz="120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records ~6 analyst-days per quarter of manual consolidation (est. baseline — not measured in this build)</a:t>
            </a:r>
            <a:endParaRPr lang="en-US" sz="120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failures: a UNION instead of UNION ALL dropped 4% of rows; defaulting unmapped payment terms understated DPO by 11 days</a:t>
            </a:r>
            <a:endParaRPr lang="en-US" sz="120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rules surface in production, not in review</a:t>
            </a:r>
            <a:endParaRPr lang="en-US" sz="1200"/>
          </a:p>
        </p:txBody>
      </p:sp>
      <p:sp>
        <p:nvSpPr>
          <p:cNvPr id="7" name="Shape 4"/>
          <p:cNvSpPr/>
          <p:nvPr/>
        </p:nvSpPr>
        <p:spPr>
          <a:xfrm>
            <a:off x="4709160" y="109728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09160" y="10972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The AI-Assisted Way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4800600" y="1691640"/>
            <a:ext cx="3794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agent runs → 17 cited stories, 3 staging models, 28 tests, 1 synthetic batch, 7 triaged defects</a:t>
            </a:r>
            <a:endParaRPr lang="en-US" sz="120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refinement rounds: retrieval recall 5 → 17 chunks; corpus defects fixed after the judge flagged them</a:t>
            </a:r>
            <a:endParaRPr lang="en-US" sz="120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pass: 3/3 models and 28/28 tests compiled with no manual edits</a:t>
            </a:r>
            <a:endParaRPr lang="en-US" sz="120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 min total agent time, $0.63 est. — measured from METRICS.AGENT_RUN_LOG</a:t>
            </a:r>
            <a:endParaRPr lang="en-US" sz="1200"/>
          </a:p>
        </p:txBody>
      </p:sp>
      <p:sp>
        <p:nvSpPr>
          <p:cNvPr id="10" name="Text 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to paste: Streamlit dashboard → Evidence tab (METRICS.V_EVAL_SUMMARY).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Impact Scorecard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26974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AI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AI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Conformance SQL per source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~2–3 hrs each (est.)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s each (measured)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3/3 compiled first pass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quality suite authoring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day (est.)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 s (measured)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28/28 compiled, 27/27 pass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Suite proven able to fail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 done at all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defect classes injected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7/7 caught by expected category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→ governed backlog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Days, document-dependent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s per requirement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stories, 163/163 citations valid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Out-of-scope work prevented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Caught late, if at all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Refused before any code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 governance controls upheld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566928" y="3977640"/>
            <a:ext cx="8010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AI-side figures are measured from the run log (20 runs, 9.1 min, $0.63 est.). Baselines marked (est.) are consultant estimates — this build had no human control arm, so no % time-saved is claimed. The defensible gain is verifiability: 7/7 injected defects caught and every artifact traceable to its governing clause.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Reusability &amp; Scale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143000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94360" y="1280160"/>
            <a:ext cx="365760" cy="365760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109728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reusable?</a:t>
            </a:r>
            <a:endParaRPr lang="en-US" sz="1400"/>
          </a:p>
        </p:txBody>
      </p:sp>
      <p:sp>
        <p:nvSpPr>
          <p:cNvPr id="8" name="Text 5"/>
          <p:cNvSpPr/>
          <p:nvPr/>
        </p:nvSpPr>
        <p:spPr>
          <a:xfrm>
            <a:off x="64008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accelerator: 18 ordered deploy scripts, 5 agent procedures, the RAG layer, the mutation + labelled-triage eval harness, 2 n8n workflows, a dbt project.</a:t>
            </a:r>
            <a:endParaRPr lang="en-US" sz="1150"/>
          </a:p>
        </p:txBody>
      </p:sp>
      <p:sp>
        <p:nvSpPr>
          <p:cNvPr id="9" name="Shape 6"/>
          <p:cNvSpPr/>
          <p:nvPr/>
        </p:nvSpPr>
        <p:spPr>
          <a:xfrm>
            <a:off x="4709160" y="1143000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C5D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46320" y="1280160"/>
            <a:ext cx="365760" cy="365760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4632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/>
          </a:p>
        </p:txBody>
      </p:sp>
      <p:sp>
        <p:nvSpPr>
          <p:cNvPr id="12" name="Text 9"/>
          <p:cNvSpPr/>
          <p:nvPr/>
        </p:nvSpPr>
        <p:spPr>
          <a:xfrm>
            <a:off x="534924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adopt it?</a:t>
            </a:r>
            <a:endParaRPr lang="en-US" sz="1400"/>
          </a:p>
        </p:txBody>
      </p:sp>
      <p:sp>
        <p:nvSpPr>
          <p:cNvPr id="13" name="Text 10"/>
          <p:cNvSpPr/>
          <p:nvPr/>
        </p:nvSpPr>
        <p:spPr>
          <a:xfrm>
            <a:off x="489204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Snowflake + dbt team. Swap the 6 governing documents and repoint the bronze tables — agents read the target contract from metadata, not from prompts.</a:t>
            </a:r>
            <a:endParaRPr lang="en-US" sz="1150"/>
          </a:p>
        </p:txBody>
      </p:sp>
      <p:sp>
        <p:nvSpPr>
          <p:cNvPr id="14" name="Shape 11"/>
          <p:cNvSpPr/>
          <p:nvPr/>
        </p:nvSpPr>
        <p:spPr>
          <a:xfrm>
            <a:off x="457200" y="2788920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94360" y="2926080"/>
            <a:ext cx="365760" cy="365760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436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600"/>
          </a:p>
        </p:txBody>
      </p:sp>
      <p:sp>
        <p:nvSpPr>
          <p:cNvPr id="17" name="Text 14"/>
          <p:cNvSpPr/>
          <p:nvPr/>
        </p:nvSpPr>
        <p:spPr>
          <a:xfrm>
            <a:off x="109728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you package?</a:t>
            </a:r>
            <a:endParaRPr lang="en-US" sz="1400"/>
          </a:p>
        </p:txBody>
      </p:sp>
      <p:sp>
        <p:nvSpPr>
          <p:cNvPr id="18" name="Text 15"/>
          <p:cNvSpPr/>
          <p:nvPr/>
        </p:nvSpPr>
        <p:spPr>
          <a:xfrm>
            <a:off x="640080" y="335584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with ordered deploy steps, docs/CAPSTONE.md write-up, a deployed Streamlit dashboard, and an n8n README stating the SQL API prerequisites.</a:t>
            </a:r>
            <a:endParaRPr lang="en-US" sz="1150"/>
          </a:p>
        </p:txBody>
      </p:sp>
      <p:sp>
        <p:nvSpPr>
          <p:cNvPr id="19" name="Shape 16"/>
          <p:cNvSpPr/>
          <p:nvPr/>
        </p:nvSpPr>
        <p:spPr>
          <a:xfrm>
            <a:off x="4709160" y="2788920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C5D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846320" y="2926080"/>
            <a:ext cx="365760" cy="365760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4632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600"/>
          </a:p>
        </p:txBody>
      </p:sp>
      <p:sp>
        <p:nvSpPr>
          <p:cNvPr id="22" name="Text 19"/>
          <p:cNvSpPr/>
          <p:nvPr/>
        </p:nvSpPr>
        <p:spPr>
          <a:xfrm>
            <a:off x="534924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Org-scale potential</a:t>
            </a:r>
            <a:endParaRPr lang="en-US" sz="1400"/>
          </a:p>
        </p:txBody>
      </p:sp>
      <p:sp>
        <p:nvSpPr>
          <p:cNvPr id="23" name="Text 20"/>
          <p:cNvSpPr/>
          <p:nvPr/>
        </p:nvSpPr>
        <p:spPr>
          <a:xfrm>
            <a:off x="4892040" y="335584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pattern for every source-onboarding engagement, and an injected-defect harness that gives a QA lead objective evidence a generated suite actually works.</a:t>
            </a:r>
            <a:endParaRPr lang="en-US" sz="11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Got Right &amp; What It Got Wrong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143000"/>
            <a:ext cx="8229600" cy="1051560"/>
          </a:xfrm>
          <a:prstGeom prst="roundRect">
            <a:avLst>
              <a:gd name="adj" fmla="val 4348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21792" y="1463040"/>
            <a:ext cx="411480" cy="411480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8872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got RIGHT</a:t>
            </a:r>
            <a:endParaRPr lang="en-US" sz="1400"/>
          </a:p>
        </p:txBody>
      </p:sp>
      <p:sp>
        <p:nvSpPr>
          <p:cNvPr id="7" name="Text 4"/>
          <p:cNvSpPr/>
          <p:nvPr/>
        </p:nvSpPr>
        <p:spPr>
          <a:xfrm>
            <a:off x="1188720" y="160020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9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generation was genuinely accurate: 3/3 staging models and 28/28 tests compiled first pass, honouring the first-hyphen cost-centre rule and the ban on defaulting unmapped payment terms</a:t>
            </a:r>
            <a:endParaRPr lang="en-US" sz="1150"/>
          </a:p>
          <a:p>
            <a:pPr marL="152400" indent="-152400">
              <a:buSzPct val="100000"/>
              <a:buChar char="•"/>
            </a:pPr>
            <a:r>
              <a:rPr lang="en-US" sz="9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prohibited work: quoted the PRD clause blocking a source pending a DPA and wrote zero stories for it</a:t>
            </a:r>
            <a:endParaRPr lang="en-US" sz="1150"/>
          </a:p>
        </p:txBody>
      </p:sp>
      <p:sp>
        <p:nvSpPr>
          <p:cNvPr id="8" name="Shape 5"/>
          <p:cNvSpPr/>
          <p:nvPr/>
        </p:nvSpPr>
        <p:spPr>
          <a:xfrm>
            <a:off x="457200" y="2350008"/>
            <a:ext cx="8229600" cy="1051560"/>
          </a:xfrm>
          <a:prstGeom prst="roundRect">
            <a:avLst>
              <a:gd name="adj" fmla="val 4348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21792" y="2670048"/>
            <a:ext cx="411480" cy="411480"/>
          </a:xfrm>
          <a:prstGeom prst="ellipse">
            <a:avLst/>
          </a:prstGeom>
          <a:solidFill>
            <a:srgbClr val="FE3A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88720" y="24414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E3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got WRONG</a:t>
            </a:r>
            <a:endParaRPr lang="en-US" sz="1400"/>
          </a:p>
        </p:txBody>
      </p:sp>
      <p:sp>
        <p:nvSpPr>
          <p:cNvPr id="11" name="Text 8"/>
          <p:cNvSpPr/>
          <p:nvPr/>
        </p:nvSpPr>
        <p:spPr>
          <a:xfrm>
            <a:off x="1188720" y="2807208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9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an approval-status mapping when retrieval missed the mapping table — would have written NULL into a NOT NULL contract column. Cause: one broad retrieval query, not the model</a:t>
            </a:r>
            <a:endParaRPr lang="en-US" sz="1150"/>
          </a:p>
          <a:p>
            <a:pPr marL="152400" indent="-152400">
              <a:buSzPct val="100000"/>
              <a:buChar char="•"/>
            </a:pPr>
            <a:r>
              <a:rPr lang="en-US" sz="9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Overconfident triage: 0.93 stated confidence against 0.86 category and 0.71 severity accuracy; escalated HIGH to CRITICAL twice</a:t>
            </a:r>
            <a:endParaRPr lang="en-US" sz="1150"/>
          </a:p>
        </p:txBody>
      </p:sp>
      <p:sp>
        <p:nvSpPr>
          <p:cNvPr id="12" name="Shape 9"/>
          <p:cNvSpPr/>
          <p:nvPr/>
        </p:nvSpPr>
        <p:spPr>
          <a:xfrm>
            <a:off x="457200" y="3557016"/>
            <a:ext cx="8229600" cy="1051560"/>
          </a:xfrm>
          <a:prstGeom prst="roundRect">
            <a:avLst>
              <a:gd name="adj" fmla="val 4348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1792" y="3877056"/>
            <a:ext cx="411480" cy="411480"/>
          </a:xfrm>
          <a:prstGeom prst="ellipse">
            <a:avLst/>
          </a:prstGeom>
          <a:solidFill>
            <a:srgbClr val="024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188720" y="3648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corrected manually</a:t>
            </a:r>
            <a:endParaRPr lang="en-US" sz="1400"/>
          </a:p>
        </p:txBody>
      </p:sp>
      <p:sp>
        <p:nvSpPr>
          <p:cNvPr id="15" name="Text 12"/>
          <p:cNvSpPr/>
          <p:nvPr/>
        </p:nvSpPr>
        <p:spPr>
          <a:xfrm>
            <a:off x="1188720" y="4014216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9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Rewrote retrieval as one targeted query per fact (5 → 17 chunks) and defined the triage categories explicitly (71% → 86%)</a:t>
            </a:r>
            <a:endParaRPr lang="en-US" sz="1150"/>
          </a:p>
          <a:p>
            <a:pPr marL="152400" indent="-152400">
              <a:buSzPct val="100000"/>
              <a:buChar char="•"/>
            </a:pPr>
            <a:r>
              <a:rPr lang="en-US" sz="9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judge's flagged 'hallucinations' were mostly defects in the documents I wrote — BR-006 demanded a column no contract had. I fixed the corpus, not the agent</a:t>
            </a:r>
            <a:endParaRPr lang="en-US" sz="11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&amp; Artifacts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attachments — the proof behind every claim</a:t>
            </a:r>
            <a:endParaRPr lang="en-US" sz="120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 &amp; branch — all code</a:t>
            </a:r>
            <a:endParaRPr lang="en-US" sz="1150"/>
          </a:p>
        </p:txBody>
      </p:sp>
      <p:sp>
        <p:nvSpPr>
          <p:cNvPr id="6" name="Shape 3"/>
          <p:cNvSpPr/>
          <p:nvPr/>
        </p:nvSpPr>
        <p:spPr>
          <a:xfrm>
            <a:off x="2423160" y="1417320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532888" y="141732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dbt_capstone @ capstone_L2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470916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Write-up / design doc</a:t>
            </a:r>
            <a:endParaRPr lang="en-US" sz="1150"/>
          </a:p>
        </p:txBody>
      </p:sp>
      <p:sp>
        <p:nvSpPr>
          <p:cNvPr id="9" name="Shape 6"/>
          <p:cNvSpPr/>
          <p:nvPr/>
        </p:nvSpPr>
        <p:spPr>
          <a:xfrm>
            <a:off x="6675120" y="1417320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784848" y="141732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docs/CAPSTONE.md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45720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Prompt log / agent transcript</a:t>
            </a:r>
            <a:endParaRPr lang="en-US" sz="1150"/>
          </a:p>
        </p:txBody>
      </p:sp>
      <p:sp>
        <p:nvSpPr>
          <p:cNvPr id="12" name="Shape 9"/>
          <p:cNvSpPr/>
          <p:nvPr/>
        </p:nvSpPr>
        <p:spPr>
          <a:xfrm>
            <a:off x="2423160" y="2286000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532888" y="228600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METRICS.AGENT_RUN_LOG · sql/05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470916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Dashboard source (screenshots above)</a:t>
            </a:r>
            <a:endParaRPr lang="en-US" sz="1150"/>
          </a:p>
        </p:txBody>
      </p:sp>
      <p:sp>
        <p:nvSpPr>
          <p:cNvPr id="15" name="Shape 12"/>
          <p:cNvSpPr/>
          <p:nvPr/>
        </p:nvSpPr>
        <p:spPr>
          <a:xfrm>
            <a:off x="6675120" y="2286000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784848" y="228600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app/streamlit_app.py</a:t>
            </a:r>
            <a:endParaRPr lang="en-US" sz="1100"/>
          </a:p>
        </p:txBody>
      </p:sp>
      <p:sp>
        <p:nvSpPr>
          <p:cNvPr id="17" name="Shape 14"/>
          <p:cNvSpPr/>
          <p:nvPr/>
        </p:nvSpPr>
        <p:spPr>
          <a:xfrm>
            <a:off x="457200" y="3383280"/>
            <a:ext cx="8229600" cy="1234440"/>
          </a:xfrm>
          <a:prstGeom prst="roundRect">
            <a:avLst>
              <a:gd name="adj" fmla="val 4444"/>
            </a:avLst>
          </a:prstGeom>
          <a:solidFill>
            <a:srgbClr val="C5D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Validator</a:t>
            </a:r>
            <a:endParaRPr lang="en-US" sz="1400"/>
          </a:p>
        </p:txBody>
      </p:sp>
      <p:sp>
        <p:nvSpPr>
          <p:cNvPr id="19" name="Text 16"/>
          <p:cNvSpPr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4 → Practice / Capability Lead   ·   full prompt, citations and cost per run are queryable in METRICS.AGENT_RUN_LOG</a:t>
            </a:r>
            <a:endParaRPr lang="en-US" sz="1100"/>
          </a:p>
        </p:txBody>
      </p:sp>
      <p:sp>
        <p:nvSpPr>
          <p:cNvPr id="20" name="Text 17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      </a:t>
            </a:r>
            <a:r>
              <a:rPr lang="en-US" sz="1200" b="1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      </a:t>
            </a:r>
            <a:r>
              <a:rPr lang="en-US" sz="1200" b="1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</a:t>
            </a: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</a:t>
            </a:r>
            <a:endParaRPr lang="en-US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Rubric — 5 Topics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topic scored 0–30. Demonstrate at least 3. Clear at 70 / 150.</a:t>
            </a:r>
            <a:endParaRPr lang="en-US" sz="120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200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Competency topic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earns top marks (25–30)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248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Spec-Driven Development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discipline governs agent behaviour and hand-offs, not just a single file.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248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AI-Powered Development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Claude Code / Copilot (agent modes, CLI, skills) delivering working software.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248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Evaluation &amp; Interpretability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 evaluation (LLM-as-judge, scored comparisons); data-grounded decisions.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248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Design, Orchestration &amp; Ops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/ multi-step orchestration with failure handling, recovery, observability.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248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Tool Integration &amp; Extensibility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agents via MCP servers, hooks, or custom skills/tools — secure and reusable.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52628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71D8C5"/>
          </a:solidFill>
          <a:ln w="9525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57200" y="4526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Distinction  25–30</a:t>
            </a:r>
            <a:endParaRPr lang="en-US" sz="1000"/>
          </a:p>
        </p:txBody>
      </p:sp>
      <p:sp>
        <p:nvSpPr>
          <p:cNvPr id="8" name="Shape 4"/>
          <p:cNvSpPr/>
          <p:nvPr/>
        </p:nvSpPr>
        <p:spPr>
          <a:xfrm>
            <a:off x="2532888" y="452628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C5DCEE"/>
          </a:solidFill>
          <a:ln w="9525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2532888" y="4526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Proficient  18–24</a:t>
            </a:r>
            <a:endParaRPr lang="en-US" sz="1000"/>
          </a:p>
        </p:txBody>
      </p:sp>
      <p:sp>
        <p:nvSpPr>
          <p:cNvPr id="10" name="Shape 6"/>
          <p:cNvSpPr/>
          <p:nvPr/>
        </p:nvSpPr>
        <p:spPr>
          <a:xfrm>
            <a:off x="4608576" y="452628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DFE7ED"/>
          </a:solidFill>
          <a:ln w="9525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7"/>
          <p:cNvSpPr/>
          <p:nvPr/>
        </p:nvSpPr>
        <p:spPr>
          <a:xfrm>
            <a:off x="4608576" y="4526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 10–17</a:t>
            </a:r>
            <a:endParaRPr lang="en-US" sz="1000"/>
          </a:p>
        </p:txBody>
      </p:sp>
      <p:sp>
        <p:nvSpPr>
          <p:cNvPr id="12" name="Shape 8"/>
          <p:cNvSpPr/>
          <p:nvPr/>
        </p:nvSpPr>
        <p:spPr>
          <a:xfrm>
            <a:off x="6684264" y="452628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684264" y="4526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 0–9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Self-Rating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topic you demonstrated (0–30). Leave blank if not used (min 3 required).</a:t>
            </a:r>
            <a:endParaRPr lang="en-US" sz="120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DFE7ED"/>
          </a:solidFill>
          <a:ln w="6350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12801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Spec-Driven Development</a:t>
            </a:r>
            <a:endParaRPr lang="en-US" sz="1250"/>
          </a:p>
        </p:txBody>
      </p:sp>
      <p:sp>
        <p:nvSpPr>
          <p:cNvPr id="7" name="Shape 4"/>
          <p:cNvSpPr/>
          <p:nvPr/>
        </p:nvSpPr>
        <p:spPr>
          <a:xfrm>
            <a:off x="7543800" y="1280160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C5DCEE"/>
          </a:solidFill>
          <a:ln w="127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543800" y="12801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30</a:t>
            </a:r>
            <a:endParaRPr lang="en-US" sz="1200"/>
          </a:p>
        </p:txBody>
      </p:sp>
      <p:sp>
        <p:nvSpPr>
          <p:cNvPr id="9" name="Shape 6"/>
          <p:cNvSpPr/>
          <p:nvPr/>
        </p:nvSpPr>
        <p:spPr>
          <a:xfrm>
            <a:off x="457200" y="1810512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181051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AI-Powered Development</a:t>
            </a:r>
            <a:endParaRPr lang="en-US" sz="1250"/>
          </a:p>
        </p:txBody>
      </p:sp>
      <p:sp>
        <p:nvSpPr>
          <p:cNvPr id="11" name="Shape 8"/>
          <p:cNvSpPr/>
          <p:nvPr/>
        </p:nvSpPr>
        <p:spPr>
          <a:xfrm>
            <a:off x="7543800" y="1810512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C5DCEE"/>
          </a:solidFill>
          <a:ln w="127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543800" y="181051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30</a:t>
            </a:r>
            <a:endParaRPr lang="en-US" sz="1200"/>
          </a:p>
        </p:txBody>
      </p:sp>
      <p:sp>
        <p:nvSpPr>
          <p:cNvPr id="13" name="Shape 10"/>
          <p:cNvSpPr/>
          <p:nvPr/>
        </p:nvSpPr>
        <p:spPr>
          <a:xfrm>
            <a:off x="457200" y="2340864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DFE7ED"/>
          </a:solidFill>
          <a:ln w="6350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4360" y="2340864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LLM Evaluation &amp; Interpretability</a:t>
            </a:r>
            <a:endParaRPr lang="en-US" sz="1250"/>
          </a:p>
        </p:txBody>
      </p:sp>
      <p:sp>
        <p:nvSpPr>
          <p:cNvPr id="15" name="Shape 12"/>
          <p:cNvSpPr/>
          <p:nvPr/>
        </p:nvSpPr>
        <p:spPr>
          <a:xfrm>
            <a:off x="7543800" y="2340864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C5DCEE"/>
          </a:solidFill>
          <a:ln w="127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543800" y="2340864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30</a:t>
            </a:r>
            <a:endParaRPr lang="en-US" sz="1200"/>
          </a:p>
        </p:txBody>
      </p:sp>
      <p:sp>
        <p:nvSpPr>
          <p:cNvPr id="17" name="Shape 14"/>
          <p:cNvSpPr/>
          <p:nvPr/>
        </p:nvSpPr>
        <p:spPr>
          <a:xfrm>
            <a:off x="457200" y="2871216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4360" y="2871216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Agent Design, Orchestration &amp; Ops</a:t>
            </a:r>
            <a:endParaRPr lang="en-US" sz="1250"/>
          </a:p>
        </p:txBody>
      </p:sp>
      <p:sp>
        <p:nvSpPr>
          <p:cNvPr id="19" name="Shape 16"/>
          <p:cNvSpPr/>
          <p:nvPr/>
        </p:nvSpPr>
        <p:spPr>
          <a:xfrm>
            <a:off x="7543800" y="287121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C5DCEE"/>
          </a:solidFill>
          <a:ln w="127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543800" y="2871216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30</a:t>
            </a:r>
            <a:endParaRPr lang="en-US" sz="1200"/>
          </a:p>
        </p:txBody>
      </p:sp>
      <p:sp>
        <p:nvSpPr>
          <p:cNvPr id="21" name="Shape 18"/>
          <p:cNvSpPr/>
          <p:nvPr/>
        </p:nvSpPr>
        <p:spPr>
          <a:xfrm>
            <a:off x="457200" y="3401568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DFE7ED"/>
          </a:solidFill>
          <a:ln w="6350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94360" y="340156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AI Tool Integration &amp; Extensibility</a:t>
            </a:r>
            <a:endParaRPr lang="en-US" sz="1250"/>
          </a:p>
        </p:txBody>
      </p:sp>
      <p:sp>
        <p:nvSpPr>
          <p:cNvPr id="23" name="Shape 20"/>
          <p:cNvSpPr/>
          <p:nvPr/>
        </p:nvSpPr>
        <p:spPr>
          <a:xfrm>
            <a:off x="7543800" y="3401568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C5DCEE"/>
          </a:solidFill>
          <a:ln w="127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543800" y="340156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demo'd</a:t>
            </a:r>
            <a:endParaRPr lang="en-US" sz="1200"/>
          </a:p>
        </p:txBody>
      </p:sp>
      <p:sp>
        <p:nvSpPr>
          <p:cNvPr id="25" name="Shape 22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total:  103 / 150      Clear = 70+     (I demonstrated 4 of 5 topics)</a:t>
            </a:r>
            <a:endParaRPr lang="en-US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&amp; Key Takeaway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these sentences</a:t>
            </a:r>
            <a:endParaRPr lang="en-US" sz="120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66928" y="1371600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"Before this program, I thought AI was a faster way to write code — useful for boilerplate, risky for anything a client depends on."</a:t>
            </a:r>
            <a:endParaRPr lang="en-US" sz="110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66928" y="1920240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"Now I know it is only as correct as the documentation you ground it in — and that the real engineering is building the checks that prove it."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457200" y="2606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biggest learning</a:t>
            </a:r>
            <a:endParaRPr lang="en-US" sz="120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66928" y="2880360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flagged 5 invented values in my backlog. Four were contradictions in the governing documents I had written myself. Evaluate the corpus, not just the model.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457200" y="35204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using AI at work</a:t>
            </a:r>
            <a:endParaRPr lang="en-US" sz="1200"/>
          </a:p>
        </p:txBody>
      </p:sp>
      <p:sp>
        <p:nvSpPr>
          <p:cNvPr id="13" name="Text 10"/>
          <p:cNvSpPr/>
          <p:nvPr/>
        </p:nvSpPr>
        <p:spPr>
          <a:xfrm>
            <a:off x="457200" y="37947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r>
              <a:rPr lang="en-US" sz="13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 /10        </a:t>
            </a:r>
            <a:r>
              <a:rPr lang="en-US" sz="1300" b="1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r>
              <a:rPr lang="en-US" sz="13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 /10</a:t>
            </a:r>
            <a:endParaRPr lang="en-US" sz="1300"/>
          </a:p>
        </p:txBody>
      </p:sp>
      <p:sp>
        <p:nvSpPr>
          <p:cNvPr id="14" name="Text 11"/>
          <p:cNvSpPr/>
          <p:nvPr/>
        </p:nvSpPr>
        <p:spPr>
          <a:xfrm>
            <a:off x="4709160" y="35204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tip for the next cohort</a:t>
            </a:r>
            <a:endParaRPr lang="en-US" sz="1200"/>
          </a:p>
        </p:txBody>
      </p:sp>
      <p:sp>
        <p:nvSpPr>
          <p:cNvPr id="15" name="Shape 12"/>
          <p:cNvSpPr/>
          <p:nvPr/>
        </p:nvSpPr>
        <p:spPr>
          <a:xfrm>
            <a:off x="4709160" y="379476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818888" y="3794760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AI prove its tests can fail. A generated test that only ever passes tells you nothing.</a:t>
            </a:r>
            <a:endParaRPr lang="en-US" sz="1100"/>
          </a:p>
        </p:txBody>
      </p:sp>
      <p:sp>
        <p:nvSpPr>
          <p:cNvPr id="17" name="Text 1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Perficient Global AI First Academy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50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Validation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71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use only</a:t>
            </a:r>
            <a:endParaRPr lang="en-US" sz="13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365760"/>
            <a:ext cx="1097280" cy="2526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258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Spec-Driven Development</a:t>
            </a:r>
            <a:endParaRPr lang="en-US" sz="1250"/>
          </a:p>
        </p:txBody>
      </p:sp>
      <p:sp>
        <p:nvSpPr>
          <p:cNvPr id="6" name="Shape 3"/>
          <p:cNvSpPr/>
          <p:nvPr/>
        </p:nvSpPr>
        <p:spPr>
          <a:xfrm>
            <a:off x="7543800" y="1325880"/>
            <a:ext cx="1143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543800" y="13258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457200" y="17830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AI-Powered Development</a:t>
            </a:r>
            <a:endParaRPr lang="en-US" sz="1250"/>
          </a:p>
        </p:txBody>
      </p:sp>
      <p:sp>
        <p:nvSpPr>
          <p:cNvPr id="9" name="Shape 6"/>
          <p:cNvSpPr/>
          <p:nvPr/>
        </p:nvSpPr>
        <p:spPr>
          <a:xfrm>
            <a:off x="7543800" y="1783080"/>
            <a:ext cx="1143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543800" y="17830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457200" y="22402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LLM Evaluation &amp; Interpretability</a:t>
            </a:r>
            <a:endParaRPr lang="en-US" sz="1250"/>
          </a:p>
        </p:txBody>
      </p:sp>
      <p:sp>
        <p:nvSpPr>
          <p:cNvPr id="12" name="Shape 9"/>
          <p:cNvSpPr/>
          <p:nvPr/>
        </p:nvSpPr>
        <p:spPr>
          <a:xfrm>
            <a:off x="7543800" y="2240280"/>
            <a:ext cx="1143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543800" y="22402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457200" y="26974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Agent Design, Orchestration &amp; Ops</a:t>
            </a:r>
            <a:endParaRPr lang="en-US" sz="1250"/>
          </a:p>
        </p:txBody>
      </p:sp>
      <p:sp>
        <p:nvSpPr>
          <p:cNvPr id="15" name="Shape 12"/>
          <p:cNvSpPr/>
          <p:nvPr/>
        </p:nvSpPr>
        <p:spPr>
          <a:xfrm>
            <a:off x="7543800" y="2697480"/>
            <a:ext cx="1143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543800" y="26974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100"/>
          </a:p>
        </p:txBody>
      </p:sp>
      <p:sp>
        <p:nvSpPr>
          <p:cNvPr id="17" name="Text 14"/>
          <p:cNvSpPr/>
          <p:nvPr/>
        </p:nvSpPr>
        <p:spPr>
          <a:xfrm>
            <a:off x="457200" y="31546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AI Tool Integration &amp; Extensibility</a:t>
            </a:r>
            <a:endParaRPr lang="en-US" sz="1250"/>
          </a:p>
        </p:txBody>
      </p:sp>
      <p:sp>
        <p:nvSpPr>
          <p:cNvPr id="18" name="Shape 15"/>
          <p:cNvSpPr/>
          <p:nvPr/>
        </p:nvSpPr>
        <p:spPr>
          <a:xfrm>
            <a:off x="7543800" y="3154680"/>
            <a:ext cx="1143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543800" y="31546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100"/>
          </a:p>
        </p:txBody>
      </p:sp>
      <p:sp>
        <p:nvSpPr>
          <p:cNvPr id="20" name="Text 17"/>
          <p:cNvSpPr/>
          <p:nvPr/>
        </p:nvSpPr>
        <p:spPr>
          <a:xfrm>
            <a:off x="457200" y="36301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total:  ____ / 150</a:t>
            </a:r>
            <a:r>
              <a:rPr lang="en-US" sz="1200">
                <a:solidFill>
                  <a:srgbClr val="71D8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Clear = 70+</a:t>
            </a:r>
            <a:endParaRPr lang="en-US" sz="1500"/>
          </a:p>
        </p:txBody>
      </p:sp>
      <p:sp>
        <p:nvSpPr>
          <p:cNvPr id="21" name="Shape 18"/>
          <p:cNvSpPr/>
          <p:nvPr/>
        </p:nvSpPr>
        <p:spPr>
          <a:xfrm>
            <a:off x="457200" y="411480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57200" y="4114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Yes, Agree — certify</a:t>
            </a:r>
            <a:endParaRPr lang="en-US" sz="1200"/>
          </a:p>
        </p:txBody>
      </p:sp>
      <p:sp>
        <p:nvSpPr>
          <p:cNvPr id="23" name="Shape 20"/>
          <p:cNvSpPr/>
          <p:nvPr/>
        </p:nvSpPr>
        <p:spPr>
          <a:xfrm>
            <a:off x="3291840" y="411480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FE3A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291840" y="4114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E3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No, Do not certify</a:t>
            </a:r>
            <a:endParaRPr lang="en-US" sz="1200"/>
          </a:p>
        </p:txBody>
      </p:sp>
      <p:sp>
        <p:nvSpPr>
          <p:cNvPr id="25" name="Text 22"/>
          <p:cNvSpPr/>
          <p:nvPr/>
        </p:nvSpPr>
        <p:spPr>
          <a:xfrm>
            <a:off x="6126480" y="41788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signature: </a:t>
            </a: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     </a:t>
            </a: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1050"/>
          </a:p>
        </p:txBody>
      </p:sp>
      <p:sp>
        <p:nvSpPr>
          <p:cNvPr id="26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71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is issued only on "Yes, Agree". A score ≥ 70 is a recommendation, not automatic certification.</a:t>
            </a:r>
            <a:endParaRPr lang="en-US" sz="9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26f94d6-fa4c-4578-9923-387e8e08487a">
      <Terms xmlns="http://schemas.microsoft.com/office/infopath/2007/PartnerControls"/>
    </lcf76f155ced4ddcb4097134ff3c332f>
    <TaxCatchAll xmlns="7a392144-d9c7-4700-81e3-5d9ccc7560d2" xsi:nil="true"/>
    <Fecha_x002f_hora xmlns="726f94d6-fa4c-4578-9923-387e8e08487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8BDE5FBDD49645B4C97074EE65F842" ma:contentTypeVersion="12" ma:contentTypeDescription="Create a new document." ma:contentTypeScope="" ma:versionID="5312b329c996433ceb2b53c55abbd94c">
  <xsd:schema xmlns:xsd="http://www.w3.org/2001/XMLSchema" xmlns:xs="http://www.w3.org/2001/XMLSchema" xmlns:p="http://schemas.microsoft.com/office/2006/metadata/properties" xmlns:ns2="726f94d6-fa4c-4578-9923-387e8e08487a" xmlns:ns3="7a392144-d9c7-4700-81e3-5d9ccc7560d2" targetNamespace="http://schemas.microsoft.com/office/2006/metadata/properties" ma:root="true" ma:fieldsID="4c00a87271a249586203d6baa24a7578" ns2:_="" ns3:_="">
    <xsd:import namespace="726f94d6-fa4c-4578-9923-387e8e08487a"/>
    <xsd:import namespace="7a392144-d9c7-4700-81e3-5d9ccc7560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Fecha_x002f_hor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6f94d6-fa4c-4578-9923-387e8e0848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398e266-1b5a-423d-aa71-fcb68a1b755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Fecha_x002f_hora" ma:index="19" nillable="true" ma:displayName="Fecha/hora" ma:format="DateTime" ma:internalName="Fecha_x002f_hora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392144-d9c7-4700-81e3-5d9ccc7560d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24c2efa-4133-4b24-8c74-08d4563e1292}" ma:internalName="TaxCatchAll" ma:showField="CatchAllData" ma:web="7a392144-d9c7-4700-81e3-5d9ccc7560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C7FDC5A-70C0-4588-82CA-E8B6F6B3A12D}">
  <ds:schemaRefs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purl.org/dc/dcmitype/"/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7a392144-d9c7-4700-81e3-5d9ccc7560d2"/>
    <ds:schemaRef ds:uri="726f94d6-fa4c-4578-9923-387e8e08487a"/>
  </ds:schemaRefs>
</ds:datastoreItem>
</file>

<file path=customXml/itemProps2.xml><?xml version="1.0" encoding="utf-8"?>
<ds:datastoreItem xmlns:ds="http://schemas.openxmlformats.org/officeDocument/2006/customXml" ds:itemID="{D68DD810-7AED-43B6-BB17-F254283372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2674E81-17EB-43AD-A4DC-3DD0F2DF9E2A}">
  <ds:schemaRefs>
    <ds:schemaRef ds:uri="726f94d6-fa4c-4578-9923-387e8e08487a"/>
    <ds:schemaRef ds:uri="7a392144-d9c7-4700-81e3-5d9ccc7560d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1633</Words>
  <Application>Microsoft Office PowerPoint</Application>
  <PresentationFormat>On-screen Show (16:9)</PresentationFormat>
  <Paragraphs>193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Infanto Hearty Shamirna</cp:lastModifiedBy>
  <cp:revision>3</cp:revision>
  <dcterms:created xsi:type="dcterms:W3CDTF">2026-07-11T21:26:25Z</dcterms:created>
  <dcterms:modified xsi:type="dcterms:W3CDTF">2026-09-07T14:28:13Z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0x010100178BDE5FBDD49645B4C97074EE65F842</vt:lpwstr>
  </property>
  <property fmtid="{D5CDD505-2E9C-101B-9397-08002B2CF9AE}" pid="3" name="MediaServiceImageTags">
    <vt:lpwstr/>
  </property>
</Properties>
</file>